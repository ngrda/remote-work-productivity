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297"/>
    <p:restoredTop sz="94610"/>
  </p:normalViewPr>
  <p:slideViewPr>
    <p:cSldViewPr snapToGrid="0" snapToObjects="1">
      <p:cViewPr>
        <p:scale>
          <a:sx n="90" d="100"/>
          <a:sy n="90" d="100"/>
        </p:scale>
        <p:origin x="152" y="1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357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studies whether working from home more days per week is related to employee productivity, and whether this changes depending on the quality of the employee's home office.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dataset with 1,500 employee-level observations. It includes categorical and numerical variables, so it was appropriate for this project. The data were already in good condition, since there were no missing values or duplicates.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outcome is productivity. The main predictor is the number of days worked from home each week. I also included home office quality because I expected the effect of remote work to depend on the working conditions at home.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exploratory analysis, productivity was relatively high across all WFH groups, although hybrid workers seemed to have slightly higher values. A clearer pattern appeared with home office quality, since employees with better home office conditions tended to show higher productivity.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several models, from simple to more complete ones. The final model was the Home Office Quality Model, because it gave the best balance between fit and interpretation. The results show that the number of WFH days has only a very small effect, while better home office quality is more clearly associated with higher productivity.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conclusion is that remote work frequency by itself does not explain productivity very well. What seems more important is the context in which remote work happens, especially the quality of the home office. This suggests that companies should not focus only on how many days employees work from home, but also on the conditions in which they do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ABFBF"/>
          </a:solidFill>
          <a:ln w="12700">
            <a:solidFill>
              <a:srgbClr val="3ABFBF"/>
            </a:solidFill>
            <a:prstDash val="solid"/>
          </a:ln>
        </p:spPr>
        <p:txBody>
          <a:bodyPr/>
          <a:lstStyle/>
          <a:p>
            <a:endParaRPr lang="en-ES"/>
          </a:p>
        </p:txBody>
      </p:sp>
      <p:sp>
        <p:nvSpPr>
          <p:cNvPr id="3" name="Shape 1"/>
          <p:cNvSpPr/>
          <p:nvPr/>
        </p:nvSpPr>
        <p:spPr>
          <a:xfrm>
            <a:off x="6217920" y="0"/>
            <a:ext cx="2926080" cy="5143500"/>
          </a:xfrm>
          <a:prstGeom prst="rect">
            <a:avLst/>
          </a:prstGeom>
          <a:solidFill>
            <a:srgbClr val="0B2E3D"/>
          </a:solidFill>
          <a:ln w="12700">
            <a:solidFill>
              <a:srgbClr val="0B2E3D"/>
            </a:solidFill>
            <a:prstDash val="solid"/>
          </a:ln>
        </p:spPr>
        <p:txBody>
          <a:bodyPr/>
          <a:lstStyle/>
          <a:p>
            <a:endParaRPr lang="en-ES"/>
          </a:p>
        </p:txBody>
      </p:sp>
      <p:sp>
        <p:nvSpPr>
          <p:cNvPr id="4" name="Shape 2"/>
          <p:cNvSpPr/>
          <p:nvPr/>
        </p:nvSpPr>
        <p:spPr>
          <a:xfrm>
            <a:off x="6675120" y="5486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5" name="Shape 3"/>
          <p:cNvSpPr/>
          <p:nvPr/>
        </p:nvSpPr>
        <p:spPr>
          <a:xfrm>
            <a:off x="7223760" y="5486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6" name="Shape 4"/>
          <p:cNvSpPr/>
          <p:nvPr/>
        </p:nvSpPr>
        <p:spPr>
          <a:xfrm>
            <a:off x="7772400" y="5486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7" name="Shape 5"/>
          <p:cNvSpPr/>
          <p:nvPr/>
        </p:nvSpPr>
        <p:spPr>
          <a:xfrm>
            <a:off x="8321040" y="5486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8" name="Shape 6"/>
          <p:cNvSpPr/>
          <p:nvPr/>
        </p:nvSpPr>
        <p:spPr>
          <a:xfrm>
            <a:off x="8869680" y="5486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9" name="Shape 7"/>
          <p:cNvSpPr/>
          <p:nvPr/>
        </p:nvSpPr>
        <p:spPr>
          <a:xfrm>
            <a:off x="6675120" y="128016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0" name="Shape 8"/>
          <p:cNvSpPr/>
          <p:nvPr/>
        </p:nvSpPr>
        <p:spPr>
          <a:xfrm>
            <a:off x="7223760" y="128016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1" name="Shape 9"/>
          <p:cNvSpPr/>
          <p:nvPr/>
        </p:nvSpPr>
        <p:spPr>
          <a:xfrm>
            <a:off x="7772400" y="128016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2" name="Shape 10"/>
          <p:cNvSpPr/>
          <p:nvPr/>
        </p:nvSpPr>
        <p:spPr>
          <a:xfrm>
            <a:off x="8321040" y="128016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3" name="Shape 11"/>
          <p:cNvSpPr/>
          <p:nvPr/>
        </p:nvSpPr>
        <p:spPr>
          <a:xfrm>
            <a:off x="8869680" y="128016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4" name="Shape 12"/>
          <p:cNvSpPr/>
          <p:nvPr/>
        </p:nvSpPr>
        <p:spPr>
          <a:xfrm>
            <a:off x="6675120" y="201168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5" name="Shape 13"/>
          <p:cNvSpPr/>
          <p:nvPr/>
        </p:nvSpPr>
        <p:spPr>
          <a:xfrm>
            <a:off x="7223760" y="201168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6" name="Shape 14"/>
          <p:cNvSpPr/>
          <p:nvPr/>
        </p:nvSpPr>
        <p:spPr>
          <a:xfrm>
            <a:off x="7772400" y="201168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7" name="Shape 15"/>
          <p:cNvSpPr/>
          <p:nvPr/>
        </p:nvSpPr>
        <p:spPr>
          <a:xfrm>
            <a:off x="8321040" y="201168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8" name="Shape 16"/>
          <p:cNvSpPr/>
          <p:nvPr/>
        </p:nvSpPr>
        <p:spPr>
          <a:xfrm>
            <a:off x="8869680" y="201168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19" name="Shape 17"/>
          <p:cNvSpPr/>
          <p:nvPr/>
        </p:nvSpPr>
        <p:spPr>
          <a:xfrm>
            <a:off x="6675120" y="274320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0" name="Shape 18"/>
          <p:cNvSpPr/>
          <p:nvPr/>
        </p:nvSpPr>
        <p:spPr>
          <a:xfrm>
            <a:off x="7223760" y="274320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1" name="Shape 19"/>
          <p:cNvSpPr/>
          <p:nvPr/>
        </p:nvSpPr>
        <p:spPr>
          <a:xfrm>
            <a:off x="7772400" y="274320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2" name="Shape 20"/>
          <p:cNvSpPr/>
          <p:nvPr/>
        </p:nvSpPr>
        <p:spPr>
          <a:xfrm>
            <a:off x="8321040" y="274320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3" name="Shape 21"/>
          <p:cNvSpPr/>
          <p:nvPr/>
        </p:nvSpPr>
        <p:spPr>
          <a:xfrm>
            <a:off x="8869680" y="274320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4" name="Shape 22"/>
          <p:cNvSpPr/>
          <p:nvPr/>
        </p:nvSpPr>
        <p:spPr>
          <a:xfrm>
            <a:off x="6675120" y="347472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5" name="Shape 23"/>
          <p:cNvSpPr/>
          <p:nvPr/>
        </p:nvSpPr>
        <p:spPr>
          <a:xfrm>
            <a:off x="7223760" y="347472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6" name="Shape 24"/>
          <p:cNvSpPr/>
          <p:nvPr/>
        </p:nvSpPr>
        <p:spPr>
          <a:xfrm>
            <a:off x="7772400" y="347472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7" name="Shape 25"/>
          <p:cNvSpPr/>
          <p:nvPr/>
        </p:nvSpPr>
        <p:spPr>
          <a:xfrm>
            <a:off x="8321040" y="347472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8" name="Shape 26"/>
          <p:cNvSpPr/>
          <p:nvPr/>
        </p:nvSpPr>
        <p:spPr>
          <a:xfrm>
            <a:off x="8869680" y="347472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29" name="Shape 27"/>
          <p:cNvSpPr/>
          <p:nvPr/>
        </p:nvSpPr>
        <p:spPr>
          <a:xfrm>
            <a:off x="6675120" y="42062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30" name="Shape 28"/>
          <p:cNvSpPr/>
          <p:nvPr/>
        </p:nvSpPr>
        <p:spPr>
          <a:xfrm>
            <a:off x="7223760" y="42062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31" name="Shape 29"/>
          <p:cNvSpPr/>
          <p:nvPr/>
        </p:nvSpPr>
        <p:spPr>
          <a:xfrm>
            <a:off x="7772400" y="42062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32" name="Shape 30"/>
          <p:cNvSpPr/>
          <p:nvPr/>
        </p:nvSpPr>
        <p:spPr>
          <a:xfrm>
            <a:off x="8321040" y="42062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33" name="Shape 31"/>
          <p:cNvSpPr/>
          <p:nvPr/>
        </p:nvSpPr>
        <p:spPr>
          <a:xfrm>
            <a:off x="8869680" y="4206240"/>
            <a:ext cx="109728" cy="109728"/>
          </a:xfrm>
          <a:prstGeom prst="ellipse">
            <a:avLst/>
          </a:prstGeom>
          <a:solidFill>
            <a:srgbClr val="3ABFBF">
              <a:alpha val="30000"/>
            </a:srgbClr>
          </a:solidFill>
          <a:ln w="12700">
            <a:solidFill>
              <a:srgbClr val="3ABFBF">
                <a:alpha val="30000"/>
              </a:srgbClr>
            </a:solidFill>
            <a:prstDash val="solid"/>
          </a:ln>
        </p:spPr>
        <p:txBody>
          <a:bodyPr/>
          <a:lstStyle/>
          <a:p>
            <a:endParaRPr lang="en-ES"/>
          </a:p>
        </p:txBody>
      </p:sp>
      <p:sp>
        <p:nvSpPr>
          <p:cNvPr id="34" name="Text 32"/>
          <p:cNvSpPr/>
          <p:nvPr/>
        </p:nvSpPr>
        <p:spPr>
          <a:xfrm>
            <a:off x="457200" y="411480"/>
            <a:ext cx="5577840" cy="320040"/>
          </a:xfrm>
          <a:prstGeom prst="rect">
            <a:avLst/>
          </a:prstGeom>
          <a:noFill/>
          <a:ln/>
        </p:spPr>
        <p:txBody>
          <a:bodyPr wrap="square" lIns="0" tIns="0" rIns="0" bIns="0" rtlCol="0" anchor="ctr"/>
          <a:lstStyle/>
          <a:p>
            <a:pPr marL="0" indent="0">
              <a:buNone/>
            </a:pPr>
            <a:r>
              <a:rPr lang="en-US" sz="1000" b="1" kern="0" spc="400" dirty="0">
                <a:solidFill>
                  <a:srgbClr val="3ABFBF"/>
                </a:solidFill>
              </a:rPr>
              <a:t>RESEARCH PRESENTATION</a:t>
            </a:r>
            <a:endParaRPr lang="en-US" sz="1000" dirty="0"/>
          </a:p>
        </p:txBody>
      </p:sp>
      <p:sp>
        <p:nvSpPr>
          <p:cNvPr id="35" name="Text 33"/>
          <p:cNvSpPr/>
          <p:nvPr/>
        </p:nvSpPr>
        <p:spPr>
          <a:xfrm>
            <a:off x="457200" y="822960"/>
            <a:ext cx="5577840" cy="1920240"/>
          </a:xfrm>
          <a:prstGeom prst="rect">
            <a:avLst/>
          </a:prstGeom>
          <a:noFill/>
          <a:ln/>
        </p:spPr>
        <p:txBody>
          <a:bodyPr wrap="square" lIns="0" tIns="0" rIns="0" bIns="0" rtlCol="0" anchor="t"/>
          <a:lstStyle/>
          <a:p>
            <a:pPr marL="0" indent="0">
              <a:buNone/>
            </a:pPr>
            <a:r>
              <a:rPr lang="en-US" sz="4200" b="1" dirty="0">
                <a:solidFill>
                  <a:srgbClr val="FFFFFF"/>
                </a:solidFill>
                <a:latin typeface="Trebuchet MS" pitchFamily="34" charset="0"/>
                <a:ea typeface="Trebuchet MS" pitchFamily="34" charset="-122"/>
                <a:cs typeface="Trebuchet MS" pitchFamily="34" charset="-120"/>
              </a:rPr>
              <a:t>Remote Work</a:t>
            </a:r>
            <a:endParaRPr lang="en-US" sz="4200" dirty="0"/>
          </a:p>
          <a:p>
            <a:pPr marL="0" indent="0">
              <a:buNone/>
            </a:pPr>
            <a:r>
              <a:rPr lang="en-US" sz="4200" b="1" dirty="0">
                <a:solidFill>
                  <a:srgbClr val="FFFFFF"/>
                </a:solidFill>
                <a:latin typeface="Trebuchet MS" pitchFamily="34" charset="0"/>
                <a:ea typeface="Trebuchet MS" pitchFamily="34" charset="-122"/>
                <a:cs typeface="Trebuchet MS" pitchFamily="34" charset="-120"/>
              </a:rPr>
              <a:t>&amp; Productivity</a:t>
            </a:r>
            <a:endParaRPr lang="en-US" sz="4200" dirty="0"/>
          </a:p>
        </p:txBody>
      </p:sp>
      <p:sp>
        <p:nvSpPr>
          <p:cNvPr id="36" name="Text 34"/>
          <p:cNvSpPr/>
          <p:nvPr/>
        </p:nvSpPr>
        <p:spPr>
          <a:xfrm>
            <a:off x="457200" y="2788920"/>
            <a:ext cx="5577840" cy="457200"/>
          </a:xfrm>
          <a:prstGeom prst="rect">
            <a:avLst/>
          </a:prstGeom>
          <a:noFill/>
          <a:ln/>
        </p:spPr>
        <p:txBody>
          <a:bodyPr wrap="square" lIns="0" tIns="0" rIns="0" bIns="0" rtlCol="0" anchor="ctr"/>
          <a:lstStyle/>
          <a:p>
            <a:pPr marL="0" indent="0">
              <a:buNone/>
            </a:pPr>
            <a:r>
              <a:rPr lang="en-US" sz="1800" i="1" dirty="0">
                <a:solidFill>
                  <a:srgbClr val="3ABFBF"/>
                </a:solidFill>
                <a:latin typeface="Calibri" pitchFamily="34" charset="0"/>
                <a:ea typeface="Calibri" pitchFamily="34" charset="-122"/>
                <a:cs typeface="Calibri" pitchFamily="34" charset="-120"/>
              </a:rPr>
              <a:t>The Role of Home Office Quality</a:t>
            </a:r>
            <a:endParaRPr lang="en-US" sz="1800" dirty="0"/>
          </a:p>
        </p:txBody>
      </p:sp>
      <p:sp>
        <p:nvSpPr>
          <p:cNvPr id="37" name="Shape 35"/>
          <p:cNvSpPr/>
          <p:nvPr/>
        </p:nvSpPr>
        <p:spPr>
          <a:xfrm>
            <a:off x="457200" y="3337560"/>
            <a:ext cx="3657600" cy="36576"/>
          </a:xfrm>
          <a:prstGeom prst="rect">
            <a:avLst/>
          </a:prstGeom>
          <a:solidFill>
            <a:srgbClr val="5A7585"/>
          </a:solidFill>
          <a:ln w="12700">
            <a:solidFill>
              <a:srgbClr val="5A7585"/>
            </a:solidFill>
            <a:prstDash val="solid"/>
          </a:ln>
        </p:spPr>
        <p:txBody>
          <a:bodyPr/>
          <a:lstStyle/>
          <a:p>
            <a:endParaRPr lang="en-ES"/>
          </a:p>
        </p:txBody>
      </p:sp>
      <p:sp>
        <p:nvSpPr>
          <p:cNvPr id="38" name="Shape 36"/>
          <p:cNvSpPr/>
          <p:nvPr/>
        </p:nvSpPr>
        <p:spPr>
          <a:xfrm>
            <a:off x="457200" y="3520440"/>
            <a:ext cx="5486400" cy="1188720"/>
          </a:xfrm>
          <a:prstGeom prst="rect">
            <a:avLst/>
          </a:prstGeom>
          <a:solidFill>
            <a:srgbClr val="0B2E3D"/>
          </a:solidFill>
          <a:ln w="12700">
            <a:solidFill>
              <a:srgbClr val="1A6B7C"/>
            </a:solidFill>
            <a:prstDash val="solid"/>
          </a:ln>
        </p:spPr>
        <p:txBody>
          <a:bodyPr/>
          <a:lstStyle/>
          <a:p>
            <a:endParaRPr lang="en-ES"/>
          </a:p>
        </p:txBody>
      </p:sp>
      <p:sp>
        <p:nvSpPr>
          <p:cNvPr id="39" name="Text 37"/>
          <p:cNvSpPr/>
          <p:nvPr/>
        </p:nvSpPr>
        <p:spPr>
          <a:xfrm>
            <a:off x="594360" y="3566160"/>
            <a:ext cx="5212080" cy="274320"/>
          </a:xfrm>
          <a:prstGeom prst="rect">
            <a:avLst/>
          </a:prstGeom>
          <a:noFill/>
          <a:ln/>
        </p:spPr>
        <p:txBody>
          <a:bodyPr wrap="square" lIns="0" tIns="0" rIns="0" bIns="0" rtlCol="0" anchor="ctr"/>
          <a:lstStyle/>
          <a:p>
            <a:pPr marL="0" indent="0">
              <a:buNone/>
            </a:pPr>
            <a:r>
              <a:rPr lang="en-US" sz="1000" b="1" kern="0" spc="200" dirty="0">
                <a:solidFill>
                  <a:srgbClr val="3ABFBF"/>
                </a:solidFill>
              </a:rPr>
              <a:t>Research Questions</a:t>
            </a:r>
            <a:endParaRPr lang="en-US" sz="1000" dirty="0"/>
          </a:p>
        </p:txBody>
      </p:sp>
      <p:sp>
        <p:nvSpPr>
          <p:cNvPr id="40" name="Text 38"/>
          <p:cNvSpPr/>
          <p:nvPr/>
        </p:nvSpPr>
        <p:spPr>
          <a:xfrm>
            <a:off x="594360" y="3886200"/>
            <a:ext cx="5212080" cy="777240"/>
          </a:xfrm>
          <a:prstGeom prst="rect">
            <a:avLst/>
          </a:prstGeom>
          <a:noFill/>
          <a:ln/>
        </p:spPr>
        <p:txBody>
          <a:bodyPr wrap="square"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Is the number of WFH days associated with employee productivity?</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Does this relationship depend on home office quality?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4E"/>
          </a:solidFill>
          <a:ln w="12700">
            <a:solidFill>
              <a:srgbClr val="0D3B4E"/>
            </a:solidFill>
            <a:prstDash val="solid"/>
          </a:ln>
        </p:spPr>
        <p:txBody>
          <a:bodyPr/>
          <a:lstStyle/>
          <a:p>
            <a:endParaRPr lang="en-ES"/>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1100" b="1" kern="0" spc="400" dirty="0">
                <a:solidFill>
                  <a:srgbClr val="3ABFBF"/>
                </a:solidFill>
              </a:rPr>
              <a:t>DATASET</a:t>
            </a:r>
            <a:endParaRPr lang="en-US" sz="1100" dirty="0"/>
          </a:p>
        </p:txBody>
      </p:sp>
      <p:sp>
        <p:nvSpPr>
          <p:cNvPr id="4" name="Text 2"/>
          <p:cNvSpPr/>
          <p:nvPr/>
        </p:nvSpPr>
        <p:spPr>
          <a:xfrm>
            <a:off x="365760" y="822960"/>
            <a:ext cx="8229600" cy="640080"/>
          </a:xfrm>
          <a:prstGeom prst="rect">
            <a:avLst/>
          </a:prstGeom>
          <a:noFill/>
          <a:ln/>
        </p:spPr>
        <p:txBody>
          <a:bodyPr wrap="square" lIns="0" tIns="0" rIns="0" bIns="0" rtlCol="0" anchor="ctr"/>
          <a:lstStyle/>
          <a:p>
            <a:pPr marL="0" indent="0">
              <a:buNone/>
            </a:pPr>
            <a:r>
              <a:rPr lang="en-US" sz="3200" b="1" dirty="0">
                <a:solidFill>
                  <a:srgbClr val="0D3B4E"/>
                </a:solidFill>
                <a:latin typeface="Trebuchet MS" pitchFamily="34" charset="0"/>
                <a:ea typeface="Trebuchet MS" pitchFamily="34" charset="-122"/>
                <a:cs typeface="Trebuchet MS" pitchFamily="34" charset="-120"/>
              </a:rPr>
              <a:t>Data Overview</a:t>
            </a:r>
            <a:endParaRPr lang="en-US" sz="3200" dirty="0"/>
          </a:p>
        </p:txBody>
      </p:sp>
      <p:sp>
        <p:nvSpPr>
          <p:cNvPr id="5" name="Shape 3"/>
          <p:cNvSpPr/>
          <p:nvPr/>
        </p:nvSpPr>
        <p:spPr>
          <a:xfrm>
            <a:off x="365760" y="1554480"/>
            <a:ext cx="3840480" cy="384048"/>
          </a:xfrm>
          <a:prstGeom prst="roundRect">
            <a:avLst>
              <a:gd name="adj" fmla="val 16667"/>
            </a:avLst>
          </a:prstGeom>
          <a:solidFill>
            <a:srgbClr val="1A6B7C"/>
          </a:solidFill>
          <a:ln w="12700">
            <a:solidFill>
              <a:srgbClr val="1A6B7C"/>
            </a:solidFill>
            <a:prstDash val="solid"/>
          </a:ln>
        </p:spPr>
        <p:txBody>
          <a:bodyPr/>
          <a:lstStyle/>
          <a:p>
            <a:endParaRPr lang="en-ES"/>
          </a:p>
        </p:txBody>
      </p:sp>
      <p:sp>
        <p:nvSpPr>
          <p:cNvPr id="6" name="Text 4"/>
          <p:cNvSpPr/>
          <p:nvPr/>
        </p:nvSpPr>
        <p:spPr>
          <a:xfrm>
            <a:off x="411480" y="1572768"/>
            <a:ext cx="3749040" cy="347472"/>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remote_work_productivity_analysis.csv</a:t>
            </a:r>
            <a:endParaRPr lang="en-US" sz="1100" dirty="0"/>
          </a:p>
        </p:txBody>
      </p:sp>
      <p:sp>
        <p:nvSpPr>
          <p:cNvPr id="7" name="Shape 5"/>
          <p:cNvSpPr/>
          <p:nvPr/>
        </p:nvSpPr>
        <p:spPr>
          <a:xfrm>
            <a:off x="365760" y="2103120"/>
            <a:ext cx="2651760" cy="2377440"/>
          </a:xfrm>
          <a:prstGeom prst="rect">
            <a:avLst/>
          </a:prstGeom>
          <a:solidFill>
            <a:srgbClr val="FFFFFF"/>
          </a:solidFill>
          <a:ln w="12700">
            <a:solidFill>
              <a:srgbClr val="D5CFC8"/>
            </a:solidFill>
            <a:prstDash val="solid"/>
          </a:ln>
          <a:effectLst>
            <a:outerShdw blurRad="101600" dist="38100" dir="8100000" algn="bl" rotWithShape="0">
              <a:srgbClr val="000000">
                <a:alpha val="12000"/>
              </a:srgbClr>
            </a:outerShdw>
          </a:effectLst>
        </p:spPr>
        <p:txBody>
          <a:bodyPr/>
          <a:lstStyle/>
          <a:p>
            <a:endParaRPr lang="en-ES"/>
          </a:p>
        </p:txBody>
      </p:sp>
      <p:sp>
        <p:nvSpPr>
          <p:cNvPr id="8" name="Shape 6"/>
          <p:cNvSpPr/>
          <p:nvPr/>
        </p:nvSpPr>
        <p:spPr>
          <a:xfrm>
            <a:off x="365760" y="2103120"/>
            <a:ext cx="2651760" cy="54864"/>
          </a:xfrm>
          <a:prstGeom prst="rect">
            <a:avLst/>
          </a:prstGeom>
          <a:solidFill>
            <a:srgbClr val="3ABFBF"/>
          </a:solidFill>
          <a:ln w="12700">
            <a:solidFill>
              <a:srgbClr val="3ABFBF"/>
            </a:solidFill>
            <a:prstDash val="solid"/>
          </a:ln>
        </p:spPr>
        <p:txBody>
          <a:bodyPr/>
          <a:lstStyle/>
          <a:p>
            <a:endParaRPr lang="en-ES"/>
          </a:p>
        </p:txBody>
      </p:sp>
      <p:sp>
        <p:nvSpPr>
          <p:cNvPr id="9" name="Text 7"/>
          <p:cNvSpPr/>
          <p:nvPr/>
        </p:nvSpPr>
        <p:spPr>
          <a:xfrm>
            <a:off x="365760" y="2286000"/>
            <a:ext cx="2651760" cy="914400"/>
          </a:xfrm>
          <a:prstGeom prst="rect">
            <a:avLst/>
          </a:prstGeom>
          <a:noFill/>
          <a:ln/>
        </p:spPr>
        <p:txBody>
          <a:bodyPr wrap="square" lIns="0" tIns="0" rIns="0" bIns="0" rtlCol="0" anchor="ctr"/>
          <a:lstStyle/>
          <a:p>
            <a:pPr marL="0" indent="0" algn="ctr">
              <a:buNone/>
            </a:pPr>
            <a:r>
              <a:rPr lang="en-US" sz="4800" b="1" dirty="0">
                <a:solidFill>
                  <a:srgbClr val="0D3B4E"/>
                </a:solidFill>
                <a:latin typeface="Trebuchet MS" pitchFamily="34" charset="0"/>
                <a:ea typeface="Trebuchet MS" pitchFamily="34" charset="-122"/>
                <a:cs typeface="Trebuchet MS" pitchFamily="34" charset="-120"/>
              </a:rPr>
              <a:t>1,500</a:t>
            </a:r>
            <a:endParaRPr lang="en-US" sz="4800" dirty="0"/>
          </a:p>
        </p:txBody>
      </p:sp>
      <p:sp>
        <p:nvSpPr>
          <p:cNvPr id="10" name="Text 8"/>
          <p:cNvSpPr/>
          <p:nvPr/>
        </p:nvSpPr>
        <p:spPr>
          <a:xfrm>
            <a:off x="365760" y="3200400"/>
            <a:ext cx="2651760" cy="320040"/>
          </a:xfrm>
          <a:prstGeom prst="rect">
            <a:avLst/>
          </a:prstGeom>
          <a:noFill/>
          <a:ln/>
        </p:spPr>
        <p:txBody>
          <a:bodyPr wrap="square" lIns="0" tIns="0" rIns="0" bIns="0" rtlCol="0" anchor="ctr"/>
          <a:lstStyle/>
          <a:p>
            <a:pPr marL="0" indent="0" algn="ctr">
              <a:buNone/>
            </a:pPr>
            <a:r>
              <a:rPr lang="en-US" sz="1300" b="1" dirty="0">
                <a:solidFill>
                  <a:srgbClr val="1A6B7C"/>
                </a:solidFill>
              </a:rPr>
              <a:t>Observations</a:t>
            </a:r>
            <a:endParaRPr lang="en-US" sz="1300" dirty="0"/>
          </a:p>
        </p:txBody>
      </p:sp>
      <p:sp>
        <p:nvSpPr>
          <p:cNvPr id="11" name="Text 9"/>
          <p:cNvSpPr/>
          <p:nvPr/>
        </p:nvSpPr>
        <p:spPr>
          <a:xfrm>
            <a:off x="457200" y="3547872"/>
            <a:ext cx="2468880" cy="594360"/>
          </a:xfrm>
          <a:prstGeom prst="rect">
            <a:avLst/>
          </a:prstGeom>
          <a:noFill/>
          <a:ln/>
        </p:spPr>
        <p:txBody>
          <a:bodyPr wrap="square" lIns="0" tIns="0" rIns="0" bIns="0" rtlCol="0" anchor="ctr"/>
          <a:lstStyle/>
          <a:p>
            <a:pPr marL="0" indent="0" algn="ctr">
              <a:buNone/>
            </a:pPr>
            <a:r>
              <a:rPr lang="en-US" sz="1100" dirty="0">
                <a:solidFill>
                  <a:srgbClr val="5A7585"/>
                </a:solidFill>
              </a:rPr>
              <a:t>employee-level</a:t>
            </a:r>
            <a:endParaRPr lang="en-US" sz="1100" dirty="0"/>
          </a:p>
        </p:txBody>
      </p:sp>
      <p:sp>
        <p:nvSpPr>
          <p:cNvPr id="12" name="Shape 10"/>
          <p:cNvSpPr/>
          <p:nvPr/>
        </p:nvSpPr>
        <p:spPr>
          <a:xfrm>
            <a:off x="3200400" y="2103120"/>
            <a:ext cx="2651760" cy="2377440"/>
          </a:xfrm>
          <a:prstGeom prst="rect">
            <a:avLst/>
          </a:prstGeom>
          <a:solidFill>
            <a:srgbClr val="FFFFFF"/>
          </a:solidFill>
          <a:ln w="12700">
            <a:solidFill>
              <a:srgbClr val="D5CFC8"/>
            </a:solidFill>
            <a:prstDash val="solid"/>
          </a:ln>
          <a:effectLst>
            <a:outerShdw blurRad="101600" dist="38100" dir="8100000" algn="bl" rotWithShape="0">
              <a:srgbClr val="000000">
                <a:alpha val="12000"/>
              </a:srgbClr>
            </a:outerShdw>
          </a:effectLst>
        </p:spPr>
        <p:txBody>
          <a:bodyPr/>
          <a:lstStyle/>
          <a:p>
            <a:endParaRPr lang="en-ES"/>
          </a:p>
        </p:txBody>
      </p:sp>
      <p:sp>
        <p:nvSpPr>
          <p:cNvPr id="13" name="Shape 11"/>
          <p:cNvSpPr/>
          <p:nvPr/>
        </p:nvSpPr>
        <p:spPr>
          <a:xfrm>
            <a:off x="3200400" y="2103120"/>
            <a:ext cx="2651760" cy="54864"/>
          </a:xfrm>
          <a:prstGeom prst="rect">
            <a:avLst/>
          </a:prstGeom>
          <a:solidFill>
            <a:srgbClr val="3ABFBF"/>
          </a:solidFill>
          <a:ln w="12700">
            <a:solidFill>
              <a:srgbClr val="3ABFBF"/>
            </a:solidFill>
            <a:prstDash val="solid"/>
          </a:ln>
        </p:spPr>
        <p:txBody>
          <a:bodyPr/>
          <a:lstStyle/>
          <a:p>
            <a:endParaRPr lang="en-ES"/>
          </a:p>
        </p:txBody>
      </p:sp>
      <p:sp>
        <p:nvSpPr>
          <p:cNvPr id="14" name="Text 12"/>
          <p:cNvSpPr/>
          <p:nvPr/>
        </p:nvSpPr>
        <p:spPr>
          <a:xfrm>
            <a:off x="3200400" y="2286000"/>
            <a:ext cx="2651760" cy="914400"/>
          </a:xfrm>
          <a:prstGeom prst="rect">
            <a:avLst/>
          </a:prstGeom>
          <a:noFill/>
          <a:ln/>
        </p:spPr>
        <p:txBody>
          <a:bodyPr wrap="square" lIns="0" tIns="0" rIns="0" bIns="0" rtlCol="0" anchor="ctr"/>
          <a:lstStyle/>
          <a:p>
            <a:pPr marL="0" indent="0" algn="ctr">
              <a:buNone/>
            </a:pPr>
            <a:r>
              <a:rPr lang="en-US" sz="4800" b="1" dirty="0">
                <a:solidFill>
                  <a:srgbClr val="0D3B4E"/>
                </a:solidFill>
                <a:latin typeface="Trebuchet MS" pitchFamily="34" charset="0"/>
                <a:ea typeface="Trebuchet MS" pitchFamily="34" charset="-122"/>
                <a:cs typeface="Trebuchet MS" pitchFamily="34" charset="-120"/>
              </a:rPr>
              <a:t>13</a:t>
            </a:r>
            <a:endParaRPr lang="en-US" sz="4800" dirty="0"/>
          </a:p>
        </p:txBody>
      </p:sp>
      <p:sp>
        <p:nvSpPr>
          <p:cNvPr id="15" name="Text 13"/>
          <p:cNvSpPr/>
          <p:nvPr/>
        </p:nvSpPr>
        <p:spPr>
          <a:xfrm>
            <a:off x="3200400" y="3200400"/>
            <a:ext cx="2651760" cy="320040"/>
          </a:xfrm>
          <a:prstGeom prst="rect">
            <a:avLst/>
          </a:prstGeom>
          <a:noFill/>
          <a:ln/>
        </p:spPr>
        <p:txBody>
          <a:bodyPr wrap="square" lIns="0" tIns="0" rIns="0" bIns="0" rtlCol="0" anchor="ctr"/>
          <a:lstStyle/>
          <a:p>
            <a:pPr marL="0" indent="0" algn="ctr">
              <a:buNone/>
            </a:pPr>
            <a:r>
              <a:rPr lang="en-US" sz="1300" b="1" dirty="0">
                <a:solidFill>
                  <a:srgbClr val="1A6B7C"/>
                </a:solidFill>
              </a:rPr>
              <a:t>Variables</a:t>
            </a:r>
            <a:endParaRPr lang="en-US" sz="1300" dirty="0"/>
          </a:p>
        </p:txBody>
      </p:sp>
      <p:sp>
        <p:nvSpPr>
          <p:cNvPr id="16" name="Text 14"/>
          <p:cNvSpPr/>
          <p:nvPr/>
        </p:nvSpPr>
        <p:spPr>
          <a:xfrm>
            <a:off x="3291840" y="3547872"/>
            <a:ext cx="2468880" cy="594360"/>
          </a:xfrm>
          <a:prstGeom prst="rect">
            <a:avLst/>
          </a:prstGeom>
          <a:noFill/>
          <a:ln/>
        </p:spPr>
        <p:txBody>
          <a:bodyPr wrap="square" lIns="0" tIns="0" rIns="0" bIns="0" rtlCol="0" anchor="ctr"/>
          <a:lstStyle/>
          <a:p>
            <a:pPr marL="0" indent="0" algn="ctr">
              <a:buNone/>
            </a:pPr>
            <a:r>
              <a:rPr lang="en-US" sz="1100" dirty="0">
                <a:solidFill>
                  <a:srgbClr val="5A7585"/>
                </a:solidFill>
              </a:rPr>
              <a:t>retained for analysis (17 original)</a:t>
            </a:r>
            <a:endParaRPr lang="en-US" sz="1100" dirty="0"/>
          </a:p>
        </p:txBody>
      </p:sp>
      <p:sp>
        <p:nvSpPr>
          <p:cNvPr id="17" name="Shape 15"/>
          <p:cNvSpPr/>
          <p:nvPr/>
        </p:nvSpPr>
        <p:spPr>
          <a:xfrm>
            <a:off x="6035040" y="2103120"/>
            <a:ext cx="2651760" cy="2377440"/>
          </a:xfrm>
          <a:prstGeom prst="rect">
            <a:avLst/>
          </a:prstGeom>
          <a:solidFill>
            <a:srgbClr val="FFFFFF"/>
          </a:solidFill>
          <a:ln w="12700">
            <a:solidFill>
              <a:srgbClr val="D5CFC8"/>
            </a:solidFill>
            <a:prstDash val="solid"/>
          </a:ln>
          <a:effectLst>
            <a:outerShdw blurRad="101600" dist="38100" dir="8100000" algn="bl" rotWithShape="0">
              <a:srgbClr val="000000">
                <a:alpha val="12000"/>
              </a:srgbClr>
            </a:outerShdw>
          </a:effectLst>
        </p:spPr>
        <p:txBody>
          <a:bodyPr/>
          <a:lstStyle/>
          <a:p>
            <a:endParaRPr lang="en-ES"/>
          </a:p>
        </p:txBody>
      </p:sp>
      <p:sp>
        <p:nvSpPr>
          <p:cNvPr id="18" name="Shape 16"/>
          <p:cNvSpPr/>
          <p:nvPr/>
        </p:nvSpPr>
        <p:spPr>
          <a:xfrm>
            <a:off x="6035040" y="2103120"/>
            <a:ext cx="2651760" cy="54864"/>
          </a:xfrm>
          <a:prstGeom prst="rect">
            <a:avLst/>
          </a:prstGeom>
          <a:solidFill>
            <a:srgbClr val="3ABFBF"/>
          </a:solidFill>
          <a:ln w="12700">
            <a:solidFill>
              <a:srgbClr val="3ABFBF"/>
            </a:solidFill>
            <a:prstDash val="solid"/>
          </a:ln>
        </p:spPr>
        <p:txBody>
          <a:bodyPr/>
          <a:lstStyle/>
          <a:p>
            <a:endParaRPr lang="en-ES"/>
          </a:p>
        </p:txBody>
      </p:sp>
      <p:sp>
        <p:nvSpPr>
          <p:cNvPr id="19" name="Text 17"/>
          <p:cNvSpPr/>
          <p:nvPr/>
        </p:nvSpPr>
        <p:spPr>
          <a:xfrm>
            <a:off x="6035040" y="2286000"/>
            <a:ext cx="2651760" cy="914400"/>
          </a:xfrm>
          <a:prstGeom prst="rect">
            <a:avLst/>
          </a:prstGeom>
          <a:noFill/>
          <a:ln/>
        </p:spPr>
        <p:txBody>
          <a:bodyPr wrap="square" lIns="0" tIns="0" rIns="0" bIns="0" rtlCol="0" anchor="ctr"/>
          <a:lstStyle/>
          <a:p>
            <a:pPr marL="0" indent="0" algn="ctr">
              <a:buNone/>
            </a:pPr>
            <a:r>
              <a:rPr lang="en-US" sz="4800" b="1" dirty="0">
                <a:solidFill>
                  <a:srgbClr val="0D3B4E"/>
                </a:solidFill>
                <a:latin typeface="Trebuchet MS" pitchFamily="34" charset="0"/>
                <a:ea typeface="Trebuchet MS" pitchFamily="34" charset="-122"/>
                <a:cs typeface="Trebuchet MS" pitchFamily="34" charset="-120"/>
              </a:rPr>
              <a:t>0</a:t>
            </a:r>
            <a:endParaRPr lang="en-US" sz="4800" dirty="0"/>
          </a:p>
        </p:txBody>
      </p:sp>
      <p:sp>
        <p:nvSpPr>
          <p:cNvPr id="20" name="Text 18"/>
          <p:cNvSpPr/>
          <p:nvPr/>
        </p:nvSpPr>
        <p:spPr>
          <a:xfrm>
            <a:off x="6035040" y="3200400"/>
            <a:ext cx="2651760" cy="320040"/>
          </a:xfrm>
          <a:prstGeom prst="rect">
            <a:avLst/>
          </a:prstGeom>
          <a:noFill/>
          <a:ln/>
        </p:spPr>
        <p:txBody>
          <a:bodyPr wrap="square" lIns="0" tIns="0" rIns="0" bIns="0" rtlCol="0" anchor="ctr"/>
          <a:lstStyle/>
          <a:p>
            <a:pPr marL="0" indent="0" algn="ctr">
              <a:buNone/>
            </a:pPr>
            <a:r>
              <a:rPr lang="en-US" sz="1300" b="1" dirty="0">
                <a:solidFill>
                  <a:srgbClr val="1A6B7C"/>
                </a:solidFill>
              </a:rPr>
              <a:t>Missing Values</a:t>
            </a:r>
            <a:endParaRPr lang="en-US" sz="1300" dirty="0"/>
          </a:p>
        </p:txBody>
      </p:sp>
      <p:sp>
        <p:nvSpPr>
          <p:cNvPr id="21" name="Text 19"/>
          <p:cNvSpPr/>
          <p:nvPr/>
        </p:nvSpPr>
        <p:spPr>
          <a:xfrm>
            <a:off x="6126480" y="3547872"/>
            <a:ext cx="2468880" cy="594360"/>
          </a:xfrm>
          <a:prstGeom prst="rect">
            <a:avLst/>
          </a:prstGeom>
          <a:noFill/>
          <a:ln/>
        </p:spPr>
        <p:txBody>
          <a:bodyPr wrap="square" lIns="0" tIns="0" rIns="0" bIns="0" rtlCol="0" anchor="ctr"/>
          <a:lstStyle/>
          <a:p>
            <a:pPr marL="0" indent="0" algn="ctr">
              <a:buNone/>
            </a:pPr>
            <a:r>
              <a:rPr lang="en-US" sz="1100" dirty="0">
                <a:solidFill>
                  <a:srgbClr val="5A7585"/>
                </a:solidFill>
              </a:rPr>
              <a:t>clean dataset, no duplicates</a:t>
            </a:r>
            <a:endParaRPr lang="en-US" sz="1100" dirty="0"/>
          </a:p>
        </p:txBody>
      </p:sp>
      <p:sp>
        <p:nvSpPr>
          <p:cNvPr id="22" name="Shape 20"/>
          <p:cNvSpPr/>
          <p:nvPr/>
        </p:nvSpPr>
        <p:spPr>
          <a:xfrm>
            <a:off x="365760" y="4663440"/>
            <a:ext cx="8412480" cy="274320"/>
          </a:xfrm>
          <a:prstGeom prst="rect">
            <a:avLst/>
          </a:prstGeom>
          <a:solidFill>
            <a:srgbClr val="E2DDD6"/>
          </a:solidFill>
          <a:ln w="12700">
            <a:solidFill>
              <a:srgbClr val="E2DDD6"/>
            </a:solidFill>
            <a:prstDash val="solid"/>
          </a:ln>
        </p:spPr>
        <p:txBody>
          <a:bodyPr/>
          <a:lstStyle/>
          <a:p>
            <a:endParaRPr lang="en-ES"/>
          </a:p>
        </p:txBody>
      </p:sp>
      <p:sp>
        <p:nvSpPr>
          <p:cNvPr id="23" name="Text 21"/>
          <p:cNvSpPr/>
          <p:nvPr/>
        </p:nvSpPr>
        <p:spPr>
          <a:xfrm>
            <a:off x="548640" y="4681728"/>
            <a:ext cx="8046720" cy="237744"/>
          </a:xfrm>
          <a:prstGeom prst="rect">
            <a:avLst/>
          </a:prstGeom>
          <a:noFill/>
          <a:ln/>
        </p:spPr>
        <p:txBody>
          <a:bodyPr wrap="square" lIns="0" tIns="0" rIns="0" bIns="0" rtlCol="0" anchor="ctr"/>
          <a:lstStyle/>
          <a:p>
            <a:pPr marL="0" indent="0">
              <a:buNone/>
            </a:pPr>
            <a:r>
              <a:rPr lang="en-US" sz="1100" dirty="0">
                <a:solidFill>
                  <a:srgbClr val="5A7585"/>
                </a:solidFill>
              </a:rPr>
              <a:t>📍  Data source: Remote employee surveys — Australia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4E"/>
          </a:solidFill>
          <a:ln w="12700">
            <a:solidFill>
              <a:srgbClr val="0D3B4E"/>
            </a:solidFill>
            <a:prstDash val="solid"/>
          </a:ln>
        </p:spPr>
        <p:txBody>
          <a:bodyPr/>
          <a:lstStyle/>
          <a:p>
            <a:endParaRPr lang="en-ES"/>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1100" b="1" kern="0" spc="400" dirty="0">
                <a:solidFill>
                  <a:srgbClr val="3ABFBF"/>
                </a:solidFill>
              </a:rPr>
              <a:t>VARIABLES</a:t>
            </a:r>
            <a:endParaRPr lang="en-US" sz="1100" dirty="0"/>
          </a:p>
        </p:txBody>
      </p:sp>
      <p:sp>
        <p:nvSpPr>
          <p:cNvPr id="4" name="Text 2"/>
          <p:cNvSpPr/>
          <p:nvPr/>
        </p:nvSpPr>
        <p:spPr>
          <a:xfrm>
            <a:off x="365760" y="822960"/>
            <a:ext cx="8229600" cy="548640"/>
          </a:xfrm>
          <a:prstGeom prst="rect">
            <a:avLst/>
          </a:prstGeom>
          <a:noFill/>
          <a:ln/>
        </p:spPr>
        <p:txBody>
          <a:bodyPr wrap="square" lIns="0" tIns="0" rIns="0" bIns="0" rtlCol="0" anchor="ctr"/>
          <a:lstStyle/>
          <a:p>
            <a:pPr marL="0" indent="0">
              <a:buNone/>
            </a:pPr>
            <a:r>
              <a:rPr lang="en-US" sz="3200" b="1" dirty="0">
                <a:solidFill>
                  <a:srgbClr val="0D3B4E"/>
                </a:solidFill>
                <a:latin typeface="Trebuchet MS" pitchFamily="34" charset="0"/>
                <a:ea typeface="Trebuchet MS" pitchFamily="34" charset="-122"/>
                <a:cs typeface="Trebuchet MS" pitchFamily="34" charset="-120"/>
              </a:rPr>
              <a:t>Main Variables</a:t>
            </a:r>
            <a:endParaRPr lang="en-US" sz="3200" dirty="0"/>
          </a:p>
        </p:txBody>
      </p:sp>
      <p:sp>
        <p:nvSpPr>
          <p:cNvPr id="5" name="Shape 3"/>
          <p:cNvSpPr/>
          <p:nvPr/>
        </p:nvSpPr>
        <p:spPr>
          <a:xfrm>
            <a:off x="365760" y="1508760"/>
            <a:ext cx="2651760" cy="1280160"/>
          </a:xfrm>
          <a:prstGeom prst="rect">
            <a:avLst/>
          </a:prstGeom>
          <a:solidFill>
            <a:srgbClr val="0D3B4E"/>
          </a:solidFill>
          <a:ln w="12700">
            <a:solidFill>
              <a:srgbClr val="0D3B4E"/>
            </a:solidFill>
            <a:prstDash val="solid"/>
          </a:ln>
          <a:effectLst>
            <a:outerShdw blurRad="101600" dist="38100" dir="8100000" algn="bl" rotWithShape="0">
              <a:srgbClr val="000000">
                <a:alpha val="12000"/>
              </a:srgbClr>
            </a:outerShdw>
          </a:effectLst>
        </p:spPr>
        <p:txBody>
          <a:bodyPr/>
          <a:lstStyle/>
          <a:p>
            <a:endParaRPr lang="en-ES"/>
          </a:p>
        </p:txBody>
      </p:sp>
      <p:sp>
        <p:nvSpPr>
          <p:cNvPr id="6" name="Text 4"/>
          <p:cNvSpPr/>
          <p:nvPr/>
        </p:nvSpPr>
        <p:spPr>
          <a:xfrm>
            <a:off x="475488" y="1572768"/>
            <a:ext cx="2468880" cy="274320"/>
          </a:xfrm>
          <a:prstGeom prst="rect">
            <a:avLst/>
          </a:prstGeom>
          <a:noFill/>
          <a:ln/>
        </p:spPr>
        <p:txBody>
          <a:bodyPr wrap="square" lIns="0" tIns="0" rIns="0" bIns="0" rtlCol="0" anchor="ctr"/>
          <a:lstStyle/>
          <a:p>
            <a:pPr marL="0" indent="0">
              <a:buNone/>
            </a:pPr>
            <a:r>
              <a:rPr lang="en-US" sz="900" b="1" kern="0" spc="300" dirty="0">
                <a:solidFill>
                  <a:srgbClr val="AADDE0"/>
                </a:solidFill>
              </a:rPr>
              <a:t>OUTCOME</a:t>
            </a:r>
            <a:endParaRPr lang="en-US" sz="900" dirty="0"/>
          </a:p>
        </p:txBody>
      </p:sp>
      <p:sp>
        <p:nvSpPr>
          <p:cNvPr id="7" name="Text 5"/>
          <p:cNvSpPr/>
          <p:nvPr/>
        </p:nvSpPr>
        <p:spPr>
          <a:xfrm>
            <a:off x="475488" y="1874520"/>
            <a:ext cx="2468880" cy="347472"/>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productivity_score</a:t>
            </a:r>
            <a:endParaRPr lang="en-US" sz="1400" dirty="0"/>
          </a:p>
        </p:txBody>
      </p:sp>
      <p:sp>
        <p:nvSpPr>
          <p:cNvPr id="8" name="Text 6"/>
          <p:cNvSpPr/>
          <p:nvPr/>
        </p:nvSpPr>
        <p:spPr>
          <a:xfrm>
            <a:off x="475488" y="2240280"/>
            <a:ext cx="2468880" cy="411480"/>
          </a:xfrm>
          <a:prstGeom prst="rect">
            <a:avLst/>
          </a:prstGeom>
          <a:noFill/>
          <a:ln/>
        </p:spPr>
        <p:txBody>
          <a:bodyPr wrap="square" lIns="0" tIns="0" rIns="0" bIns="0" rtlCol="0" anchor="ctr"/>
          <a:lstStyle/>
          <a:p>
            <a:pPr marL="0" indent="0">
              <a:buNone/>
            </a:pPr>
            <a:r>
              <a:rPr lang="en-US" sz="1100" dirty="0">
                <a:solidFill>
                  <a:srgbClr val="B0D8DC"/>
                </a:solidFill>
              </a:rPr>
              <a:t>Employee productivity</a:t>
            </a:r>
            <a:endParaRPr lang="en-US" sz="1100" dirty="0"/>
          </a:p>
        </p:txBody>
      </p:sp>
      <p:sp>
        <p:nvSpPr>
          <p:cNvPr id="9" name="Shape 7"/>
          <p:cNvSpPr/>
          <p:nvPr/>
        </p:nvSpPr>
        <p:spPr>
          <a:xfrm>
            <a:off x="3200400" y="1508760"/>
            <a:ext cx="2651760" cy="1280160"/>
          </a:xfrm>
          <a:prstGeom prst="rect">
            <a:avLst/>
          </a:prstGeom>
          <a:solidFill>
            <a:srgbClr val="1A6B7C"/>
          </a:solidFill>
          <a:ln w="12700">
            <a:solidFill>
              <a:srgbClr val="1A6B7C"/>
            </a:solidFill>
            <a:prstDash val="solid"/>
          </a:ln>
          <a:effectLst>
            <a:outerShdw blurRad="101600" dist="38100" dir="8100000" algn="bl" rotWithShape="0">
              <a:srgbClr val="000000">
                <a:alpha val="12000"/>
              </a:srgbClr>
            </a:outerShdw>
          </a:effectLst>
        </p:spPr>
        <p:txBody>
          <a:bodyPr/>
          <a:lstStyle/>
          <a:p>
            <a:endParaRPr lang="en-ES"/>
          </a:p>
        </p:txBody>
      </p:sp>
      <p:sp>
        <p:nvSpPr>
          <p:cNvPr id="10" name="Text 8"/>
          <p:cNvSpPr/>
          <p:nvPr/>
        </p:nvSpPr>
        <p:spPr>
          <a:xfrm>
            <a:off x="3310128" y="1572768"/>
            <a:ext cx="2468880" cy="274320"/>
          </a:xfrm>
          <a:prstGeom prst="rect">
            <a:avLst/>
          </a:prstGeom>
          <a:noFill/>
          <a:ln/>
        </p:spPr>
        <p:txBody>
          <a:bodyPr wrap="square" lIns="0" tIns="0" rIns="0" bIns="0" rtlCol="0" anchor="ctr"/>
          <a:lstStyle/>
          <a:p>
            <a:pPr marL="0" indent="0">
              <a:buNone/>
            </a:pPr>
            <a:r>
              <a:rPr lang="en-US" sz="900" b="1" kern="0" spc="300" dirty="0">
                <a:solidFill>
                  <a:srgbClr val="AADDE0"/>
                </a:solidFill>
              </a:rPr>
              <a:t>MAIN PREDICTOR</a:t>
            </a:r>
            <a:endParaRPr lang="en-US" sz="900" dirty="0"/>
          </a:p>
        </p:txBody>
      </p:sp>
      <p:sp>
        <p:nvSpPr>
          <p:cNvPr id="11" name="Text 9"/>
          <p:cNvSpPr/>
          <p:nvPr/>
        </p:nvSpPr>
        <p:spPr>
          <a:xfrm>
            <a:off x="3310128" y="1874520"/>
            <a:ext cx="2468880" cy="347472"/>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wfh_days_per_week</a:t>
            </a:r>
            <a:endParaRPr lang="en-US" sz="1400" dirty="0"/>
          </a:p>
        </p:txBody>
      </p:sp>
      <p:sp>
        <p:nvSpPr>
          <p:cNvPr id="12" name="Text 10"/>
          <p:cNvSpPr/>
          <p:nvPr/>
        </p:nvSpPr>
        <p:spPr>
          <a:xfrm>
            <a:off x="3310128" y="2240280"/>
            <a:ext cx="2468880" cy="411480"/>
          </a:xfrm>
          <a:prstGeom prst="rect">
            <a:avLst/>
          </a:prstGeom>
          <a:noFill/>
          <a:ln/>
        </p:spPr>
        <p:txBody>
          <a:bodyPr wrap="square" lIns="0" tIns="0" rIns="0" bIns="0" rtlCol="0" anchor="ctr"/>
          <a:lstStyle/>
          <a:p>
            <a:pPr marL="0" indent="0">
              <a:buNone/>
            </a:pPr>
            <a:r>
              <a:rPr lang="en-US" sz="1100" dirty="0">
                <a:solidFill>
                  <a:srgbClr val="B0D8DC"/>
                </a:solidFill>
              </a:rPr>
              <a:t>Days worked from home per week</a:t>
            </a:r>
            <a:endParaRPr lang="en-US" sz="1100" dirty="0"/>
          </a:p>
        </p:txBody>
      </p:sp>
      <p:sp>
        <p:nvSpPr>
          <p:cNvPr id="13" name="Shape 11"/>
          <p:cNvSpPr/>
          <p:nvPr/>
        </p:nvSpPr>
        <p:spPr>
          <a:xfrm>
            <a:off x="6035040" y="1508760"/>
            <a:ext cx="2651760" cy="1280160"/>
          </a:xfrm>
          <a:prstGeom prst="rect">
            <a:avLst/>
          </a:prstGeom>
          <a:solidFill>
            <a:srgbClr val="1A8C8C"/>
          </a:solidFill>
          <a:ln w="12700">
            <a:solidFill>
              <a:srgbClr val="1A8C8C"/>
            </a:solidFill>
            <a:prstDash val="solid"/>
          </a:ln>
          <a:effectLst>
            <a:outerShdw blurRad="101600" dist="38100" dir="8100000" algn="bl" rotWithShape="0">
              <a:srgbClr val="000000">
                <a:alpha val="12000"/>
              </a:srgbClr>
            </a:outerShdw>
          </a:effectLst>
        </p:spPr>
        <p:txBody>
          <a:bodyPr/>
          <a:lstStyle/>
          <a:p>
            <a:endParaRPr lang="en-ES"/>
          </a:p>
        </p:txBody>
      </p:sp>
      <p:sp>
        <p:nvSpPr>
          <p:cNvPr id="14" name="Text 12"/>
          <p:cNvSpPr/>
          <p:nvPr/>
        </p:nvSpPr>
        <p:spPr>
          <a:xfrm>
            <a:off x="6144768" y="1572768"/>
            <a:ext cx="2468880" cy="274320"/>
          </a:xfrm>
          <a:prstGeom prst="rect">
            <a:avLst/>
          </a:prstGeom>
          <a:noFill/>
          <a:ln/>
        </p:spPr>
        <p:txBody>
          <a:bodyPr wrap="square" lIns="0" tIns="0" rIns="0" bIns="0" rtlCol="0" anchor="ctr"/>
          <a:lstStyle/>
          <a:p>
            <a:pPr marL="0" indent="0">
              <a:buNone/>
            </a:pPr>
            <a:r>
              <a:rPr lang="en-US" sz="900" b="1" kern="0" spc="300" dirty="0">
                <a:solidFill>
                  <a:srgbClr val="AADDE0"/>
                </a:solidFill>
              </a:rPr>
              <a:t>CONTEXTUAL</a:t>
            </a:r>
            <a:endParaRPr lang="en-US" sz="900" dirty="0"/>
          </a:p>
        </p:txBody>
      </p:sp>
      <p:sp>
        <p:nvSpPr>
          <p:cNvPr id="15" name="Text 13"/>
          <p:cNvSpPr/>
          <p:nvPr/>
        </p:nvSpPr>
        <p:spPr>
          <a:xfrm>
            <a:off x="6144768" y="1874520"/>
            <a:ext cx="2468880" cy="347472"/>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home_office_group</a:t>
            </a:r>
            <a:endParaRPr lang="en-US" sz="1400" dirty="0"/>
          </a:p>
        </p:txBody>
      </p:sp>
      <p:sp>
        <p:nvSpPr>
          <p:cNvPr id="16" name="Text 14"/>
          <p:cNvSpPr/>
          <p:nvPr/>
        </p:nvSpPr>
        <p:spPr>
          <a:xfrm>
            <a:off x="6144768" y="2240280"/>
            <a:ext cx="2468880" cy="411480"/>
          </a:xfrm>
          <a:prstGeom prst="rect">
            <a:avLst/>
          </a:prstGeom>
          <a:noFill/>
          <a:ln/>
        </p:spPr>
        <p:txBody>
          <a:bodyPr wrap="square" lIns="0" tIns="0" rIns="0" bIns="0" rtlCol="0" anchor="ctr"/>
          <a:lstStyle/>
          <a:p>
            <a:pPr marL="0" indent="0">
              <a:buNone/>
            </a:pPr>
            <a:r>
              <a:rPr lang="en-US" sz="1100" dirty="0">
                <a:solidFill>
                  <a:srgbClr val="B0D8DC"/>
                </a:solidFill>
              </a:rPr>
              <a:t>Poor/Average  ·  Good/Excellent</a:t>
            </a:r>
            <a:endParaRPr lang="en-US" sz="1100" dirty="0"/>
          </a:p>
        </p:txBody>
      </p:sp>
      <p:sp>
        <p:nvSpPr>
          <p:cNvPr id="17" name="Text 15"/>
          <p:cNvSpPr/>
          <p:nvPr/>
        </p:nvSpPr>
        <p:spPr>
          <a:xfrm>
            <a:off x="365760" y="2926080"/>
            <a:ext cx="8229600" cy="320040"/>
          </a:xfrm>
          <a:prstGeom prst="rect">
            <a:avLst/>
          </a:prstGeom>
          <a:noFill/>
          <a:ln/>
        </p:spPr>
        <p:txBody>
          <a:bodyPr wrap="square" lIns="0" tIns="0" rIns="0" bIns="0" rtlCol="0" anchor="ctr"/>
          <a:lstStyle/>
          <a:p>
            <a:pPr marL="0" indent="0">
              <a:buNone/>
            </a:pPr>
            <a:r>
              <a:rPr lang="en-US" sz="1400" b="1" dirty="0">
                <a:solidFill>
                  <a:srgbClr val="0D3B4E"/>
                </a:solidFill>
              </a:rPr>
              <a:t>Control Variables</a:t>
            </a:r>
            <a:endParaRPr lang="en-US" sz="1400" dirty="0"/>
          </a:p>
        </p:txBody>
      </p:sp>
      <p:sp>
        <p:nvSpPr>
          <p:cNvPr id="18" name="Shape 16"/>
          <p:cNvSpPr/>
          <p:nvPr/>
        </p:nvSpPr>
        <p:spPr>
          <a:xfrm>
            <a:off x="365760" y="3337560"/>
            <a:ext cx="2743200" cy="411480"/>
          </a:xfrm>
          <a:prstGeom prst="rect">
            <a:avLst/>
          </a:prstGeom>
          <a:solidFill>
            <a:srgbClr val="FFFFFF"/>
          </a:solidFill>
          <a:ln w="12700">
            <a:solidFill>
              <a:srgbClr val="D5CFC8"/>
            </a:solidFill>
            <a:prstDash val="solid"/>
          </a:ln>
        </p:spPr>
        <p:txBody>
          <a:bodyPr/>
          <a:lstStyle/>
          <a:p>
            <a:endParaRPr lang="en-ES"/>
          </a:p>
        </p:txBody>
      </p:sp>
      <p:sp>
        <p:nvSpPr>
          <p:cNvPr id="19" name="Shape 17"/>
          <p:cNvSpPr/>
          <p:nvPr/>
        </p:nvSpPr>
        <p:spPr>
          <a:xfrm>
            <a:off x="365760" y="3337560"/>
            <a:ext cx="54864" cy="411480"/>
          </a:xfrm>
          <a:prstGeom prst="rect">
            <a:avLst/>
          </a:prstGeom>
          <a:solidFill>
            <a:srgbClr val="3ABFBF"/>
          </a:solidFill>
          <a:ln w="12700">
            <a:solidFill>
              <a:srgbClr val="3ABFBF"/>
            </a:solidFill>
            <a:prstDash val="solid"/>
          </a:ln>
        </p:spPr>
        <p:txBody>
          <a:bodyPr/>
          <a:lstStyle/>
          <a:p>
            <a:endParaRPr lang="en-ES"/>
          </a:p>
        </p:txBody>
      </p:sp>
      <p:sp>
        <p:nvSpPr>
          <p:cNvPr id="20" name="Text 18"/>
          <p:cNvSpPr/>
          <p:nvPr/>
        </p:nvSpPr>
        <p:spPr>
          <a:xfrm>
            <a:off x="502920" y="3374136"/>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work_hours_per_week</a:t>
            </a:r>
            <a:endParaRPr lang="en-US" sz="1200" dirty="0"/>
          </a:p>
        </p:txBody>
      </p:sp>
      <p:sp>
        <p:nvSpPr>
          <p:cNvPr id="21" name="Shape 19"/>
          <p:cNvSpPr/>
          <p:nvPr/>
        </p:nvSpPr>
        <p:spPr>
          <a:xfrm>
            <a:off x="3154680" y="3337560"/>
            <a:ext cx="2743200" cy="411480"/>
          </a:xfrm>
          <a:prstGeom prst="rect">
            <a:avLst/>
          </a:prstGeom>
          <a:solidFill>
            <a:srgbClr val="FFFFFF"/>
          </a:solidFill>
          <a:ln w="12700">
            <a:solidFill>
              <a:srgbClr val="D5CFC8"/>
            </a:solidFill>
            <a:prstDash val="solid"/>
          </a:ln>
        </p:spPr>
        <p:txBody>
          <a:bodyPr/>
          <a:lstStyle/>
          <a:p>
            <a:endParaRPr lang="en-ES"/>
          </a:p>
        </p:txBody>
      </p:sp>
      <p:sp>
        <p:nvSpPr>
          <p:cNvPr id="22" name="Shape 20"/>
          <p:cNvSpPr/>
          <p:nvPr/>
        </p:nvSpPr>
        <p:spPr>
          <a:xfrm>
            <a:off x="3154680" y="3337560"/>
            <a:ext cx="54864" cy="411480"/>
          </a:xfrm>
          <a:prstGeom prst="rect">
            <a:avLst/>
          </a:prstGeom>
          <a:solidFill>
            <a:srgbClr val="3ABFBF"/>
          </a:solidFill>
          <a:ln w="12700">
            <a:solidFill>
              <a:srgbClr val="3ABFBF"/>
            </a:solidFill>
            <a:prstDash val="solid"/>
          </a:ln>
        </p:spPr>
        <p:txBody>
          <a:bodyPr/>
          <a:lstStyle/>
          <a:p>
            <a:endParaRPr lang="en-ES"/>
          </a:p>
        </p:txBody>
      </p:sp>
      <p:sp>
        <p:nvSpPr>
          <p:cNvPr id="23" name="Text 21"/>
          <p:cNvSpPr/>
          <p:nvPr/>
        </p:nvSpPr>
        <p:spPr>
          <a:xfrm>
            <a:off x="3291840" y="3374136"/>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meetings_per_week</a:t>
            </a:r>
            <a:endParaRPr lang="en-US" sz="1200" dirty="0"/>
          </a:p>
        </p:txBody>
      </p:sp>
      <p:sp>
        <p:nvSpPr>
          <p:cNvPr id="24" name="Shape 22"/>
          <p:cNvSpPr/>
          <p:nvPr/>
        </p:nvSpPr>
        <p:spPr>
          <a:xfrm>
            <a:off x="5943600" y="3337560"/>
            <a:ext cx="2743200" cy="411480"/>
          </a:xfrm>
          <a:prstGeom prst="rect">
            <a:avLst/>
          </a:prstGeom>
          <a:solidFill>
            <a:srgbClr val="FFFFFF"/>
          </a:solidFill>
          <a:ln w="12700">
            <a:solidFill>
              <a:srgbClr val="D5CFC8"/>
            </a:solidFill>
            <a:prstDash val="solid"/>
          </a:ln>
        </p:spPr>
        <p:txBody>
          <a:bodyPr/>
          <a:lstStyle/>
          <a:p>
            <a:endParaRPr lang="en-ES"/>
          </a:p>
        </p:txBody>
      </p:sp>
      <p:sp>
        <p:nvSpPr>
          <p:cNvPr id="25" name="Shape 23"/>
          <p:cNvSpPr/>
          <p:nvPr/>
        </p:nvSpPr>
        <p:spPr>
          <a:xfrm>
            <a:off x="5943600" y="3337560"/>
            <a:ext cx="54864" cy="411480"/>
          </a:xfrm>
          <a:prstGeom prst="rect">
            <a:avLst/>
          </a:prstGeom>
          <a:solidFill>
            <a:srgbClr val="3ABFBF"/>
          </a:solidFill>
          <a:ln w="12700">
            <a:solidFill>
              <a:srgbClr val="3ABFBF"/>
            </a:solidFill>
            <a:prstDash val="solid"/>
          </a:ln>
        </p:spPr>
        <p:txBody>
          <a:bodyPr/>
          <a:lstStyle/>
          <a:p>
            <a:endParaRPr lang="en-ES"/>
          </a:p>
        </p:txBody>
      </p:sp>
      <p:sp>
        <p:nvSpPr>
          <p:cNvPr id="26" name="Text 24"/>
          <p:cNvSpPr/>
          <p:nvPr/>
        </p:nvSpPr>
        <p:spPr>
          <a:xfrm>
            <a:off x="6080760" y="3374136"/>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stress_level</a:t>
            </a:r>
            <a:endParaRPr lang="en-US" sz="1200" dirty="0"/>
          </a:p>
        </p:txBody>
      </p:sp>
      <p:sp>
        <p:nvSpPr>
          <p:cNvPr id="27" name="Shape 25"/>
          <p:cNvSpPr/>
          <p:nvPr/>
        </p:nvSpPr>
        <p:spPr>
          <a:xfrm>
            <a:off x="365760" y="3904488"/>
            <a:ext cx="2743200" cy="411480"/>
          </a:xfrm>
          <a:prstGeom prst="rect">
            <a:avLst/>
          </a:prstGeom>
          <a:solidFill>
            <a:srgbClr val="FFFFFF"/>
          </a:solidFill>
          <a:ln w="12700">
            <a:solidFill>
              <a:srgbClr val="D5CFC8"/>
            </a:solidFill>
            <a:prstDash val="solid"/>
          </a:ln>
        </p:spPr>
        <p:txBody>
          <a:bodyPr/>
          <a:lstStyle/>
          <a:p>
            <a:endParaRPr lang="en-ES"/>
          </a:p>
        </p:txBody>
      </p:sp>
      <p:sp>
        <p:nvSpPr>
          <p:cNvPr id="28" name="Shape 26"/>
          <p:cNvSpPr/>
          <p:nvPr/>
        </p:nvSpPr>
        <p:spPr>
          <a:xfrm>
            <a:off x="365760" y="3904488"/>
            <a:ext cx="54864" cy="411480"/>
          </a:xfrm>
          <a:prstGeom prst="rect">
            <a:avLst/>
          </a:prstGeom>
          <a:solidFill>
            <a:srgbClr val="3ABFBF"/>
          </a:solidFill>
          <a:ln w="12700">
            <a:solidFill>
              <a:srgbClr val="3ABFBF"/>
            </a:solidFill>
            <a:prstDash val="solid"/>
          </a:ln>
        </p:spPr>
        <p:txBody>
          <a:bodyPr/>
          <a:lstStyle/>
          <a:p>
            <a:endParaRPr lang="en-ES"/>
          </a:p>
        </p:txBody>
      </p:sp>
      <p:sp>
        <p:nvSpPr>
          <p:cNvPr id="29" name="Text 27"/>
          <p:cNvSpPr/>
          <p:nvPr/>
        </p:nvSpPr>
        <p:spPr>
          <a:xfrm>
            <a:off x="502920" y="3941064"/>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job_satisfaction</a:t>
            </a:r>
            <a:endParaRPr lang="en-US" sz="1200" dirty="0"/>
          </a:p>
        </p:txBody>
      </p:sp>
      <p:sp>
        <p:nvSpPr>
          <p:cNvPr id="30" name="Shape 28"/>
          <p:cNvSpPr/>
          <p:nvPr/>
        </p:nvSpPr>
        <p:spPr>
          <a:xfrm>
            <a:off x="3154680" y="3904488"/>
            <a:ext cx="2743200" cy="411480"/>
          </a:xfrm>
          <a:prstGeom prst="rect">
            <a:avLst/>
          </a:prstGeom>
          <a:solidFill>
            <a:srgbClr val="FFFFFF"/>
          </a:solidFill>
          <a:ln w="12700">
            <a:solidFill>
              <a:srgbClr val="D5CFC8"/>
            </a:solidFill>
            <a:prstDash val="solid"/>
          </a:ln>
        </p:spPr>
        <p:txBody>
          <a:bodyPr/>
          <a:lstStyle/>
          <a:p>
            <a:endParaRPr lang="en-ES"/>
          </a:p>
        </p:txBody>
      </p:sp>
      <p:sp>
        <p:nvSpPr>
          <p:cNvPr id="31" name="Shape 29"/>
          <p:cNvSpPr/>
          <p:nvPr/>
        </p:nvSpPr>
        <p:spPr>
          <a:xfrm>
            <a:off x="3154680" y="3904488"/>
            <a:ext cx="54864" cy="411480"/>
          </a:xfrm>
          <a:prstGeom prst="rect">
            <a:avLst/>
          </a:prstGeom>
          <a:solidFill>
            <a:srgbClr val="3ABFBF"/>
          </a:solidFill>
          <a:ln w="12700">
            <a:solidFill>
              <a:srgbClr val="3ABFBF"/>
            </a:solidFill>
            <a:prstDash val="solid"/>
          </a:ln>
        </p:spPr>
        <p:txBody>
          <a:bodyPr/>
          <a:lstStyle/>
          <a:p>
            <a:endParaRPr lang="en-ES"/>
          </a:p>
        </p:txBody>
      </p:sp>
      <p:sp>
        <p:nvSpPr>
          <p:cNvPr id="32" name="Text 30"/>
          <p:cNvSpPr/>
          <p:nvPr/>
        </p:nvSpPr>
        <p:spPr>
          <a:xfrm>
            <a:off x="3291840" y="3941064"/>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years_experience</a:t>
            </a:r>
            <a:endParaRPr lang="en-US" sz="1200" dirty="0"/>
          </a:p>
        </p:txBody>
      </p:sp>
      <p:sp>
        <p:nvSpPr>
          <p:cNvPr id="33" name="Shape 31"/>
          <p:cNvSpPr/>
          <p:nvPr/>
        </p:nvSpPr>
        <p:spPr>
          <a:xfrm>
            <a:off x="5943600" y="3904488"/>
            <a:ext cx="2743200" cy="411480"/>
          </a:xfrm>
          <a:prstGeom prst="rect">
            <a:avLst/>
          </a:prstGeom>
          <a:solidFill>
            <a:srgbClr val="FFFFFF"/>
          </a:solidFill>
          <a:ln w="12700">
            <a:solidFill>
              <a:srgbClr val="D5CFC8"/>
            </a:solidFill>
            <a:prstDash val="solid"/>
          </a:ln>
        </p:spPr>
        <p:txBody>
          <a:bodyPr/>
          <a:lstStyle/>
          <a:p>
            <a:endParaRPr lang="en-ES"/>
          </a:p>
        </p:txBody>
      </p:sp>
      <p:sp>
        <p:nvSpPr>
          <p:cNvPr id="34" name="Shape 32"/>
          <p:cNvSpPr/>
          <p:nvPr/>
        </p:nvSpPr>
        <p:spPr>
          <a:xfrm>
            <a:off x="5943600" y="3904488"/>
            <a:ext cx="54864" cy="411480"/>
          </a:xfrm>
          <a:prstGeom prst="rect">
            <a:avLst/>
          </a:prstGeom>
          <a:solidFill>
            <a:srgbClr val="3ABFBF"/>
          </a:solidFill>
          <a:ln w="12700">
            <a:solidFill>
              <a:srgbClr val="3ABFBF"/>
            </a:solidFill>
            <a:prstDash val="solid"/>
          </a:ln>
        </p:spPr>
        <p:txBody>
          <a:bodyPr/>
          <a:lstStyle/>
          <a:p>
            <a:endParaRPr lang="en-ES"/>
          </a:p>
        </p:txBody>
      </p:sp>
      <p:sp>
        <p:nvSpPr>
          <p:cNvPr id="35" name="Text 33"/>
          <p:cNvSpPr/>
          <p:nvPr/>
        </p:nvSpPr>
        <p:spPr>
          <a:xfrm>
            <a:off x="6080760" y="3941064"/>
            <a:ext cx="2560320" cy="338328"/>
          </a:xfrm>
          <a:prstGeom prst="rect">
            <a:avLst/>
          </a:prstGeom>
          <a:noFill/>
          <a:ln/>
        </p:spPr>
        <p:txBody>
          <a:bodyPr wrap="square" lIns="0" tIns="0" rIns="0" bIns="0" rtlCol="0" anchor="ctr"/>
          <a:lstStyle/>
          <a:p>
            <a:pPr marL="0" indent="0">
              <a:buNone/>
            </a:pPr>
            <a:r>
              <a:rPr lang="en-US" sz="1200" dirty="0">
                <a:solidFill>
                  <a:srgbClr val="1C2B33"/>
                </a:solidFill>
                <a:latin typeface="Consolas" pitchFamily="34" charset="0"/>
                <a:ea typeface="Consolas" pitchFamily="34" charset="-122"/>
                <a:cs typeface="Consolas" pitchFamily="34" charset="-120"/>
              </a:rPr>
              <a:t>job_level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4E"/>
          </a:solidFill>
          <a:ln w="12700">
            <a:solidFill>
              <a:srgbClr val="0D3B4E"/>
            </a:solidFill>
            <a:prstDash val="solid"/>
          </a:ln>
        </p:spPr>
        <p:txBody>
          <a:bodyPr/>
          <a:lstStyle/>
          <a:p>
            <a:endParaRPr lang="en-ES"/>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1100" b="1" kern="0" spc="400" dirty="0">
                <a:solidFill>
                  <a:srgbClr val="3ABFBF"/>
                </a:solidFill>
              </a:rPr>
              <a:t>EXPLORATORY ANALYSIS</a:t>
            </a:r>
            <a:endParaRPr lang="en-US" sz="1100" dirty="0"/>
          </a:p>
        </p:txBody>
      </p:sp>
      <p:sp>
        <p:nvSpPr>
          <p:cNvPr id="4" name="Text 2"/>
          <p:cNvSpPr/>
          <p:nvPr/>
        </p:nvSpPr>
        <p:spPr>
          <a:xfrm>
            <a:off x="365760" y="822960"/>
            <a:ext cx="8229600" cy="548640"/>
          </a:xfrm>
          <a:prstGeom prst="rect">
            <a:avLst/>
          </a:prstGeom>
          <a:noFill/>
          <a:ln/>
        </p:spPr>
        <p:txBody>
          <a:bodyPr wrap="square" lIns="0" tIns="0" rIns="0" bIns="0" rtlCol="0" anchor="ctr"/>
          <a:lstStyle/>
          <a:p>
            <a:pPr marL="0" indent="0">
              <a:buNone/>
            </a:pPr>
            <a:r>
              <a:rPr lang="en-US" sz="3200" b="1" dirty="0">
                <a:solidFill>
                  <a:srgbClr val="0D3B4E"/>
                </a:solidFill>
                <a:latin typeface="Trebuchet MS" pitchFamily="34" charset="0"/>
                <a:ea typeface="Trebuchet MS" pitchFamily="34" charset="-122"/>
                <a:cs typeface="Trebuchet MS" pitchFamily="34" charset="-120"/>
              </a:rPr>
              <a:t>Exploratory Analysis</a:t>
            </a:r>
            <a:endParaRPr lang="en-US" sz="3200" dirty="0"/>
          </a:p>
        </p:txBody>
      </p:sp>
      <p:sp>
        <p:nvSpPr>
          <p:cNvPr id="7" name="Text 3"/>
          <p:cNvSpPr/>
          <p:nvPr/>
        </p:nvSpPr>
        <p:spPr>
          <a:xfrm>
            <a:off x="365760" y="4355465"/>
            <a:ext cx="8412480" cy="502920"/>
          </a:xfrm>
          <a:prstGeom prst="rect">
            <a:avLst/>
          </a:prstGeom>
          <a:noFill/>
          <a:ln/>
        </p:spPr>
        <p:txBody>
          <a:bodyPr wrap="square" rtlCol="0" anchor="ctr"/>
          <a:lstStyle/>
          <a:p>
            <a:pPr marL="342900" indent="-342900">
              <a:buSzPct val="100000"/>
              <a:buChar char="•"/>
            </a:pPr>
            <a:r>
              <a:rPr lang="en-US" sz="1200" dirty="0">
                <a:solidFill>
                  <a:srgbClr val="1C2B33"/>
                </a:solidFill>
                <a:latin typeface="Calibri" pitchFamily="34" charset="0"/>
                <a:ea typeface="Calibri" pitchFamily="34" charset="-122"/>
                <a:cs typeface="Calibri" pitchFamily="34" charset="-120"/>
              </a:rPr>
              <a:t>Productivity is generally high across all WFH groups</a:t>
            </a:r>
            <a:endParaRPr lang="en-US" sz="1200" dirty="0"/>
          </a:p>
          <a:p>
            <a:pPr marL="342900" indent="-342900">
              <a:buSzPct val="100000"/>
              <a:buChar char="•"/>
            </a:pPr>
            <a:r>
              <a:rPr lang="en-US" sz="1200" dirty="0">
                <a:solidFill>
                  <a:srgbClr val="1C2B33"/>
                </a:solidFill>
                <a:latin typeface="Calibri" pitchFamily="34" charset="0"/>
                <a:ea typeface="Calibri" pitchFamily="34" charset="-122"/>
                <a:cs typeface="Calibri" pitchFamily="34" charset="-120"/>
              </a:rPr>
              <a:t>Hybrid workers show slightly higher productivity</a:t>
            </a:r>
            <a:endParaRPr lang="en-US" sz="1200" dirty="0"/>
          </a:p>
          <a:p>
            <a:pPr marL="342900" indent="-342900">
              <a:buSzPct val="100000"/>
              <a:buChar char="•"/>
            </a:pPr>
            <a:r>
              <a:rPr lang="en-US" sz="1200" dirty="0">
                <a:solidFill>
                  <a:srgbClr val="1C2B33"/>
                </a:solidFill>
                <a:latin typeface="Calibri" pitchFamily="34" charset="0"/>
                <a:ea typeface="Calibri" pitchFamily="34" charset="-122"/>
                <a:cs typeface="Calibri" pitchFamily="34" charset="-120"/>
              </a:rPr>
              <a:t>Better home office quality clearly associates with higher productivity</a:t>
            </a:r>
            <a:endParaRPr lang="en-US" sz="1200" dirty="0"/>
          </a:p>
        </p:txBody>
      </p:sp>
      <p:pic>
        <p:nvPicPr>
          <p:cNvPr id="9" name="Picture 8" descr="A diagram of a group of people&#10;&#10;AI-generated content may be incorrect.">
            <a:extLst>
              <a:ext uri="{FF2B5EF4-FFF2-40B4-BE49-F238E27FC236}">
                <a16:creationId xmlns:a16="http://schemas.microsoft.com/office/drawing/2014/main" id="{44494205-F8FD-5E49-0F89-EE61C497FEBC}"/>
              </a:ext>
            </a:extLst>
          </p:cNvPr>
          <p:cNvPicPr>
            <a:picLocks noChangeAspect="1"/>
          </p:cNvPicPr>
          <p:nvPr/>
        </p:nvPicPr>
        <p:blipFill>
          <a:blip r:embed="rId3"/>
          <a:stretch>
            <a:fillRect/>
          </a:stretch>
        </p:blipFill>
        <p:spPr>
          <a:xfrm>
            <a:off x="535965" y="1835150"/>
            <a:ext cx="3523081" cy="2308225"/>
          </a:xfrm>
          <a:prstGeom prst="rect">
            <a:avLst/>
          </a:prstGeom>
        </p:spPr>
      </p:pic>
      <p:pic>
        <p:nvPicPr>
          <p:cNvPr id="11" name="Picture 10" descr="A graph showing a group of people&#10;&#10;AI-generated content may be incorrect.">
            <a:extLst>
              <a:ext uri="{FF2B5EF4-FFF2-40B4-BE49-F238E27FC236}">
                <a16:creationId xmlns:a16="http://schemas.microsoft.com/office/drawing/2014/main" id="{1F3DF901-4C10-FC41-8A6A-062624AD6081}"/>
              </a:ext>
            </a:extLst>
          </p:cNvPr>
          <p:cNvPicPr>
            <a:picLocks noChangeAspect="1"/>
          </p:cNvPicPr>
          <p:nvPr/>
        </p:nvPicPr>
        <p:blipFill>
          <a:blip r:embed="rId4"/>
          <a:stretch>
            <a:fillRect/>
          </a:stretch>
        </p:blipFill>
        <p:spPr>
          <a:xfrm>
            <a:off x="4900196" y="1835150"/>
            <a:ext cx="3523079" cy="23082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3B4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ABFBF"/>
          </a:solidFill>
          <a:ln w="12700">
            <a:solidFill>
              <a:srgbClr val="3ABFBF"/>
            </a:solidFill>
            <a:prstDash val="solid"/>
          </a:ln>
        </p:spPr>
        <p:txBody>
          <a:bodyPr/>
          <a:lstStyle/>
          <a:p>
            <a:endParaRPr lang="en-ES"/>
          </a:p>
        </p:txBody>
      </p:sp>
      <p:sp>
        <p:nvSpPr>
          <p:cNvPr id="3" name="Text 1"/>
          <p:cNvSpPr/>
          <p:nvPr/>
        </p:nvSpPr>
        <p:spPr>
          <a:xfrm>
            <a:off x="457200" y="228600"/>
            <a:ext cx="8229600" cy="365760"/>
          </a:xfrm>
          <a:prstGeom prst="rect">
            <a:avLst/>
          </a:prstGeom>
          <a:noFill/>
          <a:ln/>
        </p:spPr>
        <p:txBody>
          <a:bodyPr wrap="square" lIns="0" tIns="0" rIns="0" bIns="0" rtlCol="0" anchor="ctr"/>
          <a:lstStyle/>
          <a:p>
            <a:pPr marL="0" indent="0">
              <a:buNone/>
            </a:pPr>
            <a:r>
              <a:rPr lang="en-US" sz="1100" b="1" kern="0" spc="400" dirty="0">
                <a:solidFill>
                  <a:srgbClr val="3ABFBF"/>
                </a:solidFill>
              </a:rPr>
              <a:t>MODELS &amp; RESULTS</a:t>
            </a:r>
            <a:endParaRPr lang="en-US" sz="1100" dirty="0"/>
          </a:p>
        </p:txBody>
      </p:sp>
      <p:sp>
        <p:nvSpPr>
          <p:cNvPr id="4" name="Text 2"/>
          <p:cNvSpPr/>
          <p:nvPr/>
        </p:nvSpPr>
        <p:spPr>
          <a:xfrm>
            <a:off x="457200" y="64008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Models &amp; Main Results</a:t>
            </a:r>
            <a:endParaRPr lang="en-US" sz="3200" dirty="0"/>
          </a:p>
        </p:txBody>
      </p:sp>
      <p:sp>
        <p:nvSpPr>
          <p:cNvPr id="5" name="Shape 3"/>
          <p:cNvSpPr/>
          <p:nvPr/>
        </p:nvSpPr>
        <p:spPr>
          <a:xfrm>
            <a:off x="457200" y="1371600"/>
            <a:ext cx="2651760" cy="1417320"/>
          </a:xfrm>
          <a:prstGeom prst="rect">
            <a:avLst/>
          </a:prstGeom>
          <a:solidFill>
            <a:srgbClr val="1A4A5C"/>
          </a:solidFill>
          <a:ln w="12700">
            <a:solidFill>
              <a:srgbClr val="1A4A5C"/>
            </a:solidFill>
            <a:prstDash val="solid"/>
          </a:ln>
          <a:effectLst>
            <a:outerShdw blurRad="101600" dist="38100" dir="8100000" algn="bl" rotWithShape="0">
              <a:srgbClr val="000000">
                <a:alpha val="12000"/>
              </a:srgbClr>
            </a:outerShdw>
          </a:effectLst>
        </p:spPr>
        <p:txBody>
          <a:bodyPr/>
          <a:lstStyle/>
          <a:p>
            <a:endParaRPr lang="en-ES"/>
          </a:p>
        </p:txBody>
      </p:sp>
      <p:sp>
        <p:nvSpPr>
          <p:cNvPr id="6" name="Text 4"/>
          <p:cNvSpPr/>
          <p:nvPr/>
        </p:nvSpPr>
        <p:spPr>
          <a:xfrm>
            <a:off x="548640" y="1426464"/>
            <a:ext cx="2468880" cy="256032"/>
          </a:xfrm>
          <a:prstGeom prst="rect">
            <a:avLst/>
          </a:prstGeom>
          <a:noFill/>
          <a:ln/>
        </p:spPr>
        <p:txBody>
          <a:bodyPr wrap="square" lIns="0" tIns="0" rIns="0" bIns="0" rtlCol="0" anchor="ctr"/>
          <a:lstStyle/>
          <a:p>
            <a:pPr marL="0" indent="0">
              <a:buNone/>
            </a:pPr>
            <a:r>
              <a:rPr lang="en-US" sz="900" b="1" kern="0" spc="200" dirty="0">
                <a:solidFill>
                  <a:srgbClr val="3ABFBF"/>
                </a:solidFill>
              </a:rPr>
              <a:t>Model 1</a:t>
            </a:r>
            <a:endParaRPr lang="en-US" sz="900" dirty="0"/>
          </a:p>
        </p:txBody>
      </p:sp>
      <p:sp>
        <p:nvSpPr>
          <p:cNvPr id="7" name="Text 5"/>
          <p:cNvSpPr/>
          <p:nvPr/>
        </p:nvSpPr>
        <p:spPr>
          <a:xfrm>
            <a:off x="548640" y="1691640"/>
            <a:ext cx="2468880" cy="384048"/>
          </a:xfrm>
          <a:prstGeom prst="rect">
            <a:avLst/>
          </a:prstGeom>
          <a:noFill/>
          <a:ln/>
        </p:spPr>
        <p:txBody>
          <a:bodyPr wrap="square" lIns="0" tIns="0" rIns="0" bIns="0" rtlCol="0" anchor="ctr"/>
          <a:lstStyle/>
          <a:p>
            <a:pPr marL="0" indent="0">
              <a:buNone/>
            </a:pPr>
            <a:r>
              <a:rPr lang="en-US" sz="1300" b="1" dirty="0">
                <a:solidFill>
                  <a:srgbClr val="FFFFFF"/>
                </a:solidFill>
              </a:rPr>
              <a:t>Simple Regression</a:t>
            </a:r>
            <a:endParaRPr lang="en-US" sz="1300" dirty="0"/>
          </a:p>
        </p:txBody>
      </p:sp>
      <p:sp>
        <p:nvSpPr>
          <p:cNvPr id="8" name="Text 6"/>
          <p:cNvSpPr/>
          <p:nvPr/>
        </p:nvSpPr>
        <p:spPr>
          <a:xfrm>
            <a:off x="548640" y="2103120"/>
            <a:ext cx="2468880" cy="548640"/>
          </a:xfrm>
          <a:prstGeom prst="rect">
            <a:avLst/>
          </a:prstGeom>
          <a:noFill/>
          <a:ln/>
        </p:spPr>
        <p:txBody>
          <a:bodyPr wrap="square" lIns="0" tIns="0" rIns="0" bIns="0" rtlCol="0" anchor="ctr"/>
          <a:lstStyle/>
          <a:p>
            <a:pPr marL="0" indent="0">
              <a:buNone/>
            </a:pPr>
            <a:r>
              <a:rPr lang="en-US" sz="1100" dirty="0">
                <a:solidFill>
                  <a:srgbClr val="8BBAC2"/>
                </a:solidFill>
              </a:rPr>
              <a:t>WFH days → weak positive association</a:t>
            </a:r>
            <a:endParaRPr lang="en-US" sz="1100" dirty="0"/>
          </a:p>
        </p:txBody>
      </p:sp>
      <p:sp>
        <p:nvSpPr>
          <p:cNvPr id="9" name="Shape 7"/>
          <p:cNvSpPr/>
          <p:nvPr/>
        </p:nvSpPr>
        <p:spPr>
          <a:xfrm>
            <a:off x="3291840" y="1371600"/>
            <a:ext cx="2651760" cy="1417320"/>
          </a:xfrm>
          <a:prstGeom prst="rect">
            <a:avLst/>
          </a:prstGeom>
          <a:solidFill>
            <a:srgbClr val="1A4A5C"/>
          </a:solidFill>
          <a:ln w="12700">
            <a:solidFill>
              <a:srgbClr val="1A4A5C"/>
            </a:solidFill>
            <a:prstDash val="solid"/>
          </a:ln>
          <a:effectLst>
            <a:outerShdw blurRad="101600" dist="38100" dir="8100000" algn="bl" rotWithShape="0">
              <a:srgbClr val="000000">
                <a:alpha val="12000"/>
              </a:srgbClr>
            </a:outerShdw>
          </a:effectLst>
        </p:spPr>
        <p:txBody>
          <a:bodyPr/>
          <a:lstStyle/>
          <a:p>
            <a:endParaRPr lang="en-ES"/>
          </a:p>
        </p:txBody>
      </p:sp>
      <p:sp>
        <p:nvSpPr>
          <p:cNvPr id="10" name="Text 8"/>
          <p:cNvSpPr/>
          <p:nvPr/>
        </p:nvSpPr>
        <p:spPr>
          <a:xfrm>
            <a:off x="3383280" y="1426464"/>
            <a:ext cx="2468880" cy="256032"/>
          </a:xfrm>
          <a:prstGeom prst="rect">
            <a:avLst/>
          </a:prstGeom>
          <a:noFill/>
          <a:ln/>
        </p:spPr>
        <p:txBody>
          <a:bodyPr wrap="square" lIns="0" tIns="0" rIns="0" bIns="0" rtlCol="0" anchor="ctr"/>
          <a:lstStyle/>
          <a:p>
            <a:pPr marL="0" indent="0">
              <a:buNone/>
            </a:pPr>
            <a:r>
              <a:rPr lang="en-US" sz="900" b="1" kern="0" spc="200" dirty="0">
                <a:solidFill>
                  <a:srgbClr val="3ABFBF"/>
                </a:solidFill>
              </a:rPr>
              <a:t>Model 2</a:t>
            </a:r>
            <a:endParaRPr lang="en-US" sz="900" dirty="0"/>
          </a:p>
        </p:txBody>
      </p:sp>
      <p:sp>
        <p:nvSpPr>
          <p:cNvPr id="11" name="Text 9"/>
          <p:cNvSpPr/>
          <p:nvPr/>
        </p:nvSpPr>
        <p:spPr>
          <a:xfrm>
            <a:off x="3383280" y="1691640"/>
            <a:ext cx="2468880" cy="384048"/>
          </a:xfrm>
          <a:prstGeom prst="rect">
            <a:avLst/>
          </a:prstGeom>
          <a:noFill/>
          <a:ln/>
        </p:spPr>
        <p:txBody>
          <a:bodyPr wrap="square" lIns="0" tIns="0" rIns="0" bIns="0" rtlCol="0" anchor="ctr"/>
          <a:lstStyle/>
          <a:p>
            <a:pPr marL="0" indent="0">
              <a:buNone/>
            </a:pPr>
            <a:r>
              <a:rPr lang="en-US" sz="1300" b="1" dirty="0">
                <a:solidFill>
                  <a:srgbClr val="FFFFFF"/>
                </a:solidFill>
              </a:rPr>
              <a:t>Multiple Regression</a:t>
            </a:r>
            <a:endParaRPr lang="en-US" sz="1300" dirty="0"/>
          </a:p>
        </p:txBody>
      </p:sp>
      <p:sp>
        <p:nvSpPr>
          <p:cNvPr id="12" name="Text 10"/>
          <p:cNvSpPr/>
          <p:nvPr/>
        </p:nvSpPr>
        <p:spPr>
          <a:xfrm>
            <a:off x="3383280" y="2103120"/>
            <a:ext cx="2468880" cy="548640"/>
          </a:xfrm>
          <a:prstGeom prst="rect">
            <a:avLst/>
          </a:prstGeom>
          <a:noFill/>
          <a:ln/>
        </p:spPr>
        <p:txBody>
          <a:bodyPr wrap="square" lIns="0" tIns="0" rIns="0" bIns="0" rtlCol="0" anchor="ctr"/>
          <a:lstStyle/>
          <a:p>
            <a:pPr marL="0" indent="0">
              <a:buNone/>
            </a:pPr>
            <a:r>
              <a:rPr lang="en-US" sz="1100" dirty="0">
                <a:solidFill>
                  <a:srgbClr val="8BBAC2"/>
                </a:solidFill>
              </a:rPr>
              <a:t>Effect remains small with controls added</a:t>
            </a:r>
            <a:endParaRPr lang="en-US" sz="1100" dirty="0"/>
          </a:p>
        </p:txBody>
      </p:sp>
      <p:sp>
        <p:nvSpPr>
          <p:cNvPr id="13" name="Shape 11"/>
          <p:cNvSpPr/>
          <p:nvPr/>
        </p:nvSpPr>
        <p:spPr>
          <a:xfrm>
            <a:off x="6126480" y="1371600"/>
            <a:ext cx="2651760" cy="1417320"/>
          </a:xfrm>
          <a:prstGeom prst="rect">
            <a:avLst/>
          </a:prstGeom>
          <a:solidFill>
            <a:srgbClr val="3ABFBF"/>
          </a:solidFill>
          <a:ln w="12700">
            <a:solidFill>
              <a:srgbClr val="3ABFBF"/>
            </a:solidFill>
            <a:prstDash val="solid"/>
          </a:ln>
          <a:effectLst>
            <a:outerShdw blurRad="101600" dist="38100" dir="8100000" algn="bl" rotWithShape="0">
              <a:srgbClr val="000000">
                <a:alpha val="12000"/>
              </a:srgbClr>
            </a:outerShdw>
          </a:effectLst>
        </p:spPr>
        <p:txBody>
          <a:bodyPr/>
          <a:lstStyle/>
          <a:p>
            <a:endParaRPr lang="en-ES"/>
          </a:p>
        </p:txBody>
      </p:sp>
      <p:sp>
        <p:nvSpPr>
          <p:cNvPr id="14" name="Text 12"/>
          <p:cNvSpPr/>
          <p:nvPr/>
        </p:nvSpPr>
        <p:spPr>
          <a:xfrm>
            <a:off x="6217920" y="1426464"/>
            <a:ext cx="2468880" cy="256032"/>
          </a:xfrm>
          <a:prstGeom prst="rect">
            <a:avLst/>
          </a:prstGeom>
          <a:noFill/>
          <a:ln/>
        </p:spPr>
        <p:txBody>
          <a:bodyPr wrap="square" lIns="0" tIns="0" rIns="0" bIns="0" rtlCol="0" anchor="ctr"/>
          <a:lstStyle/>
          <a:p>
            <a:pPr marL="0" indent="0">
              <a:buNone/>
            </a:pPr>
            <a:r>
              <a:rPr lang="en-US" sz="900" b="1" kern="0" spc="200" dirty="0">
                <a:solidFill>
                  <a:srgbClr val="0D3B4E"/>
                </a:solidFill>
              </a:rPr>
              <a:t>Model 3</a:t>
            </a:r>
            <a:endParaRPr lang="en-US" sz="900" dirty="0"/>
          </a:p>
        </p:txBody>
      </p:sp>
      <p:sp>
        <p:nvSpPr>
          <p:cNvPr id="15" name="Text 13"/>
          <p:cNvSpPr/>
          <p:nvPr/>
        </p:nvSpPr>
        <p:spPr>
          <a:xfrm>
            <a:off x="6217920" y="1691640"/>
            <a:ext cx="2468880" cy="384048"/>
          </a:xfrm>
          <a:prstGeom prst="rect">
            <a:avLst/>
          </a:prstGeom>
          <a:noFill/>
          <a:ln/>
        </p:spPr>
        <p:txBody>
          <a:bodyPr wrap="square" lIns="0" tIns="0" rIns="0" bIns="0" rtlCol="0" anchor="ctr"/>
          <a:lstStyle/>
          <a:p>
            <a:pPr marL="0" indent="0">
              <a:buNone/>
            </a:pPr>
            <a:r>
              <a:rPr lang="en-US" sz="1300" b="1" dirty="0">
                <a:solidFill>
                  <a:srgbClr val="0D3B4E"/>
                </a:solidFill>
              </a:rPr>
              <a:t>Home Office Quality Model ★</a:t>
            </a:r>
            <a:endParaRPr lang="en-US" sz="1300" dirty="0"/>
          </a:p>
        </p:txBody>
      </p:sp>
      <p:sp>
        <p:nvSpPr>
          <p:cNvPr id="16" name="Text 14"/>
          <p:cNvSpPr/>
          <p:nvPr/>
        </p:nvSpPr>
        <p:spPr>
          <a:xfrm>
            <a:off x="6217920" y="2103120"/>
            <a:ext cx="2468880" cy="548640"/>
          </a:xfrm>
          <a:prstGeom prst="rect">
            <a:avLst/>
          </a:prstGeom>
          <a:noFill/>
          <a:ln/>
        </p:spPr>
        <p:txBody>
          <a:bodyPr wrap="square" lIns="0" tIns="0" rIns="0" bIns="0" rtlCol="0" anchor="ctr"/>
          <a:lstStyle/>
          <a:p>
            <a:pPr marL="0" indent="0">
              <a:buNone/>
            </a:pPr>
            <a:r>
              <a:rPr lang="en-US" sz="1100" dirty="0">
                <a:solidFill>
                  <a:srgbClr val="0D3B4E"/>
                </a:solidFill>
              </a:rPr>
              <a:t>Best AIC · Best adjusted R²</a:t>
            </a:r>
            <a:endParaRPr lang="en-US" sz="1100" dirty="0"/>
          </a:p>
        </p:txBody>
      </p:sp>
      <p:sp>
        <p:nvSpPr>
          <p:cNvPr id="17" name="Text 15"/>
          <p:cNvSpPr/>
          <p:nvPr/>
        </p:nvSpPr>
        <p:spPr>
          <a:xfrm>
            <a:off x="457200" y="2971800"/>
            <a:ext cx="8229600" cy="320040"/>
          </a:xfrm>
          <a:prstGeom prst="rect">
            <a:avLst/>
          </a:prstGeom>
          <a:noFill/>
          <a:ln/>
        </p:spPr>
        <p:txBody>
          <a:bodyPr wrap="square" lIns="0" tIns="0" rIns="0" bIns="0" rtlCol="0" anchor="ctr"/>
          <a:lstStyle/>
          <a:p>
            <a:pPr marL="0" indent="0">
              <a:buNone/>
            </a:pPr>
            <a:r>
              <a:rPr lang="en-US" sz="1300" b="1" kern="0" spc="200" dirty="0">
                <a:solidFill>
                  <a:srgbClr val="3ABFBF"/>
                </a:solidFill>
              </a:rPr>
              <a:t>Key Findings</a:t>
            </a:r>
            <a:endParaRPr lang="en-US" sz="1300" dirty="0"/>
          </a:p>
        </p:txBody>
      </p:sp>
      <p:sp>
        <p:nvSpPr>
          <p:cNvPr id="18" name="Shape 16"/>
          <p:cNvSpPr/>
          <p:nvPr/>
        </p:nvSpPr>
        <p:spPr>
          <a:xfrm>
            <a:off x="457200" y="3383280"/>
            <a:ext cx="8229600" cy="438912"/>
          </a:xfrm>
          <a:prstGeom prst="rect">
            <a:avLst/>
          </a:prstGeom>
          <a:solidFill>
            <a:srgbClr val="0B2E3D"/>
          </a:solidFill>
          <a:ln w="12700">
            <a:solidFill>
              <a:srgbClr val="1A4A5C"/>
            </a:solidFill>
            <a:prstDash val="solid"/>
          </a:ln>
        </p:spPr>
        <p:txBody>
          <a:bodyPr/>
          <a:lstStyle/>
          <a:p>
            <a:endParaRPr lang="en-ES"/>
          </a:p>
        </p:txBody>
      </p:sp>
      <p:sp>
        <p:nvSpPr>
          <p:cNvPr id="19" name="Text 17"/>
          <p:cNvSpPr/>
          <p:nvPr/>
        </p:nvSpPr>
        <p:spPr>
          <a:xfrm>
            <a:off x="594360" y="3429000"/>
            <a:ext cx="3657600" cy="347472"/>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wfh_days_per_week</a:t>
            </a:r>
            <a:endParaRPr lang="en-US" sz="1200" dirty="0"/>
          </a:p>
        </p:txBody>
      </p:sp>
      <p:sp>
        <p:nvSpPr>
          <p:cNvPr id="20" name="Text 18"/>
          <p:cNvSpPr/>
          <p:nvPr/>
        </p:nvSpPr>
        <p:spPr>
          <a:xfrm>
            <a:off x="4389120" y="3429000"/>
            <a:ext cx="4114800" cy="347472"/>
          </a:xfrm>
          <a:prstGeom prst="rect">
            <a:avLst/>
          </a:prstGeom>
          <a:noFill/>
          <a:ln/>
        </p:spPr>
        <p:txBody>
          <a:bodyPr wrap="square" lIns="0" tIns="0" rIns="0" bIns="0" rtlCol="0" anchor="ctr"/>
          <a:lstStyle/>
          <a:p>
            <a:pPr marL="0" indent="0">
              <a:buNone/>
            </a:pPr>
            <a:r>
              <a:rPr lang="en-US" sz="1200" dirty="0">
                <a:solidFill>
                  <a:srgbClr val="8BBAC2"/>
                </a:solidFill>
              </a:rPr>
              <a:t>Small, non-significant effect on productivity</a:t>
            </a:r>
            <a:endParaRPr lang="en-US" sz="1200" dirty="0"/>
          </a:p>
        </p:txBody>
      </p:sp>
      <p:sp>
        <p:nvSpPr>
          <p:cNvPr id="21" name="Shape 19"/>
          <p:cNvSpPr/>
          <p:nvPr/>
        </p:nvSpPr>
        <p:spPr>
          <a:xfrm>
            <a:off x="457200" y="3886200"/>
            <a:ext cx="8229600" cy="438912"/>
          </a:xfrm>
          <a:prstGeom prst="rect">
            <a:avLst/>
          </a:prstGeom>
          <a:solidFill>
            <a:srgbClr val="0B2E3D"/>
          </a:solidFill>
          <a:ln w="12700">
            <a:solidFill>
              <a:srgbClr val="1A4A5C"/>
            </a:solidFill>
            <a:prstDash val="solid"/>
          </a:ln>
        </p:spPr>
        <p:txBody>
          <a:bodyPr/>
          <a:lstStyle/>
          <a:p>
            <a:endParaRPr lang="en-ES"/>
          </a:p>
        </p:txBody>
      </p:sp>
      <p:sp>
        <p:nvSpPr>
          <p:cNvPr id="22" name="Text 20"/>
          <p:cNvSpPr/>
          <p:nvPr/>
        </p:nvSpPr>
        <p:spPr>
          <a:xfrm>
            <a:off x="594360" y="3931920"/>
            <a:ext cx="3657600" cy="347472"/>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home_office_group (Good/Excellent)</a:t>
            </a:r>
            <a:endParaRPr lang="en-US" sz="1200" dirty="0"/>
          </a:p>
        </p:txBody>
      </p:sp>
      <p:sp>
        <p:nvSpPr>
          <p:cNvPr id="23" name="Text 21"/>
          <p:cNvSpPr/>
          <p:nvPr/>
        </p:nvSpPr>
        <p:spPr>
          <a:xfrm>
            <a:off x="4389120" y="3931920"/>
            <a:ext cx="4114800" cy="347472"/>
          </a:xfrm>
          <a:prstGeom prst="rect">
            <a:avLst/>
          </a:prstGeom>
          <a:noFill/>
          <a:ln/>
        </p:spPr>
        <p:txBody>
          <a:bodyPr wrap="square" lIns="0" tIns="0" rIns="0" bIns="0" rtlCol="0" anchor="ctr"/>
          <a:lstStyle/>
          <a:p>
            <a:pPr marL="0" indent="0">
              <a:buNone/>
            </a:pPr>
            <a:r>
              <a:rPr lang="en-US" sz="1200" dirty="0">
                <a:solidFill>
                  <a:srgbClr val="8BBAC2"/>
                </a:solidFill>
              </a:rPr>
              <a:t>Positive and statistically significant</a:t>
            </a:r>
            <a:endParaRPr lang="en-US" sz="1200" dirty="0"/>
          </a:p>
        </p:txBody>
      </p:sp>
      <p:sp>
        <p:nvSpPr>
          <p:cNvPr id="24" name="Shape 22"/>
          <p:cNvSpPr/>
          <p:nvPr/>
        </p:nvSpPr>
        <p:spPr>
          <a:xfrm>
            <a:off x="457200" y="4389120"/>
            <a:ext cx="8229600" cy="438912"/>
          </a:xfrm>
          <a:prstGeom prst="rect">
            <a:avLst/>
          </a:prstGeom>
          <a:solidFill>
            <a:srgbClr val="0B2E3D"/>
          </a:solidFill>
          <a:ln w="12700">
            <a:solidFill>
              <a:srgbClr val="1A4A5C"/>
            </a:solidFill>
            <a:prstDash val="solid"/>
          </a:ln>
        </p:spPr>
        <p:txBody>
          <a:bodyPr/>
          <a:lstStyle/>
          <a:p>
            <a:endParaRPr lang="en-ES"/>
          </a:p>
        </p:txBody>
      </p:sp>
      <p:sp>
        <p:nvSpPr>
          <p:cNvPr id="25" name="Text 23"/>
          <p:cNvSpPr/>
          <p:nvPr/>
        </p:nvSpPr>
        <p:spPr>
          <a:xfrm>
            <a:off x="594360" y="4434840"/>
            <a:ext cx="3657600" cy="347472"/>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job_satisfaction + years_experience</a:t>
            </a:r>
            <a:endParaRPr lang="en-US" sz="1200" dirty="0"/>
          </a:p>
        </p:txBody>
      </p:sp>
      <p:sp>
        <p:nvSpPr>
          <p:cNvPr id="26" name="Text 24"/>
          <p:cNvSpPr/>
          <p:nvPr/>
        </p:nvSpPr>
        <p:spPr>
          <a:xfrm>
            <a:off x="4389120" y="4434840"/>
            <a:ext cx="4114800" cy="347472"/>
          </a:xfrm>
          <a:prstGeom prst="rect">
            <a:avLst/>
          </a:prstGeom>
          <a:noFill/>
          <a:ln/>
        </p:spPr>
        <p:txBody>
          <a:bodyPr wrap="square" lIns="0" tIns="0" rIns="0" bIns="0" rtlCol="0" anchor="ctr"/>
          <a:lstStyle/>
          <a:p>
            <a:pPr marL="0" indent="0">
              <a:buNone/>
            </a:pPr>
            <a:r>
              <a:rPr lang="en-US" sz="1200" dirty="0">
                <a:solidFill>
                  <a:srgbClr val="8BBAC2"/>
                </a:solidFill>
              </a:rPr>
              <a:t>Also important predictors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B4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ABFBF"/>
          </a:solidFill>
          <a:ln w="12700">
            <a:solidFill>
              <a:srgbClr val="3ABFBF"/>
            </a:solidFill>
            <a:prstDash val="solid"/>
          </a:ln>
        </p:spPr>
        <p:txBody>
          <a:bodyPr/>
          <a:lstStyle/>
          <a:p>
            <a:endParaRPr lang="en-ES"/>
          </a:p>
        </p:txBody>
      </p:sp>
      <p:sp>
        <p:nvSpPr>
          <p:cNvPr id="3" name="Text 1"/>
          <p:cNvSpPr/>
          <p:nvPr/>
        </p:nvSpPr>
        <p:spPr>
          <a:xfrm>
            <a:off x="457200" y="228600"/>
            <a:ext cx="8229600" cy="365760"/>
          </a:xfrm>
          <a:prstGeom prst="rect">
            <a:avLst/>
          </a:prstGeom>
          <a:noFill/>
          <a:ln/>
        </p:spPr>
        <p:txBody>
          <a:bodyPr wrap="square" lIns="0" tIns="0" rIns="0" bIns="0" rtlCol="0" anchor="ctr"/>
          <a:lstStyle/>
          <a:p>
            <a:pPr marL="0" indent="0">
              <a:buNone/>
            </a:pPr>
            <a:r>
              <a:rPr lang="en-US" sz="1100" b="1" kern="0" spc="400" dirty="0">
                <a:solidFill>
                  <a:srgbClr val="3ABFBF"/>
                </a:solidFill>
              </a:rPr>
              <a:t>CONCLUSION</a:t>
            </a:r>
            <a:endParaRPr lang="en-US" sz="1100" dirty="0"/>
          </a:p>
        </p:txBody>
      </p:sp>
      <p:sp>
        <p:nvSpPr>
          <p:cNvPr id="4" name="Text 2"/>
          <p:cNvSpPr/>
          <p:nvPr/>
        </p:nvSpPr>
        <p:spPr>
          <a:xfrm>
            <a:off x="457200" y="640080"/>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Conclusion</a:t>
            </a:r>
            <a:endParaRPr lang="en-US" sz="3600" dirty="0"/>
          </a:p>
        </p:txBody>
      </p:sp>
      <p:sp>
        <p:nvSpPr>
          <p:cNvPr id="5" name="Shape 3"/>
          <p:cNvSpPr/>
          <p:nvPr/>
        </p:nvSpPr>
        <p:spPr>
          <a:xfrm>
            <a:off x="457200" y="1417320"/>
            <a:ext cx="2651760" cy="2194560"/>
          </a:xfrm>
          <a:prstGeom prst="rect">
            <a:avLst/>
          </a:prstGeom>
          <a:solidFill>
            <a:srgbClr val="0B2E3D"/>
          </a:solidFill>
          <a:ln w="12700">
            <a:solidFill>
              <a:srgbClr val="1A4A5C"/>
            </a:solidFill>
            <a:prstDash val="solid"/>
          </a:ln>
          <a:effectLst>
            <a:outerShdw blurRad="101600" dist="38100" dir="8100000" algn="bl" rotWithShape="0">
              <a:srgbClr val="000000">
                <a:alpha val="12000"/>
              </a:srgbClr>
            </a:outerShdw>
          </a:effectLst>
        </p:spPr>
        <p:txBody>
          <a:bodyPr/>
          <a:lstStyle/>
          <a:p>
            <a:endParaRPr lang="en-ES"/>
          </a:p>
        </p:txBody>
      </p:sp>
      <p:sp>
        <p:nvSpPr>
          <p:cNvPr id="6" name="Shape 4"/>
          <p:cNvSpPr/>
          <p:nvPr/>
        </p:nvSpPr>
        <p:spPr>
          <a:xfrm>
            <a:off x="457200" y="1417320"/>
            <a:ext cx="2651760" cy="64008"/>
          </a:xfrm>
          <a:prstGeom prst="rect">
            <a:avLst/>
          </a:prstGeom>
          <a:solidFill>
            <a:srgbClr val="3ABFBF"/>
          </a:solidFill>
          <a:ln w="12700">
            <a:solidFill>
              <a:srgbClr val="3ABFBF"/>
            </a:solidFill>
            <a:prstDash val="solid"/>
          </a:ln>
        </p:spPr>
        <p:txBody>
          <a:bodyPr/>
          <a:lstStyle/>
          <a:p>
            <a:endParaRPr lang="en-ES"/>
          </a:p>
        </p:txBody>
      </p:sp>
      <p:sp>
        <p:nvSpPr>
          <p:cNvPr id="7" name="Text 5"/>
          <p:cNvSpPr/>
          <p:nvPr/>
        </p:nvSpPr>
        <p:spPr>
          <a:xfrm>
            <a:off x="457200" y="1554480"/>
            <a:ext cx="265176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566928" y="2057400"/>
            <a:ext cx="2432304" cy="365760"/>
          </a:xfrm>
          <a:prstGeom prst="rect">
            <a:avLst/>
          </a:prstGeom>
          <a:noFill/>
          <a:ln/>
        </p:spPr>
        <p:txBody>
          <a:bodyPr wrap="square" lIns="0" tIns="0" rIns="0" bIns="0" rtlCol="0" anchor="ctr"/>
          <a:lstStyle/>
          <a:p>
            <a:pPr marL="0" indent="0">
              <a:buNone/>
            </a:pPr>
            <a:r>
              <a:rPr lang="en-US" sz="1400" b="1" dirty="0">
                <a:solidFill>
                  <a:srgbClr val="FFFFFF"/>
                </a:solidFill>
              </a:rPr>
              <a:t>WFH Frequency</a:t>
            </a:r>
            <a:endParaRPr lang="en-US" sz="1400" dirty="0"/>
          </a:p>
        </p:txBody>
      </p:sp>
      <p:sp>
        <p:nvSpPr>
          <p:cNvPr id="9" name="Text 7"/>
          <p:cNvSpPr/>
          <p:nvPr/>
        </p:nvSpPr>
        <p:spPr>
          <a:xfrm>
            <a:off x="566928" y="2450592"/>
            <a:ext cx="2432304" cy="1005840"/>
          </a:xfrm>
          <a:prstGeom prst="rect">
            <a:avLst/>
          </a:prstGeom>
          <a:noFill/>
          <a:ln/>
        </p:spPr>
        <p:txBody>
          <a:bodyPr wrap="square" lIns="0" tIns="0" rIns="0" bIns="0" rtlCol="0" anchor="ctr"/>
          <a:lstStyle/>
          <a:p>
            <a:pPr marL="0" indent="0">
              <a:buNone/>
            </a:pPr>
            <a:r>
              <a:rPr lang="en-US" sz="1200" dirty="0">
                <a:solidFill>
                  <a:srgbClr val="8BBAC2"/>
                </a:solidFill>
              </a:rPr>
              <a:t>Working from home more days is NOT a strong predictor of productivity on its own.</a:t>
            </a:r>
            <a:endParaRPr lang="en-US" sz="1200" dirty="0"/>
          </a:p>
        </p:txBody>
      </p:sp>
      <p:sp>
        <p:nvSpPr>
          <p:cNvPr id="10" name="Shape 8"/>
          <p:cNvSpPr/>
          <p:nvPr/>
        </p:nvSpPr>
        <p:spPr>
          <a:xfrm>
            <a:off x="3291840" y="1417320"/>
            <a:ext cx="2651760" cy="2194560"/>
          </a:xfrm>
          <a:prstGeom prst="rect">
            <a:avLst/>
          </a:prstGeom>
          <a:solidFill>
            <a:srgbClr val="0B2E3D"/>
          </a:solidFill>
          <a:ln w="12700">
            <a:solidFill>
              <a:srgbClr val="1A4A5C"/>
            </a:solidFill>
            <a:prstDash val="solid"/>
          </a:ln>
          <a:effectLst>
            <a:outerShdw blurRad="101600" dist="38100" dir="8100000" algn="bl" rotWithShape="0">
              <a:srgbClr val="000000">
                <a:alpha val="12000"/>
              </a:srgbClr>
            </a:outerShdw>
          </a:effectLst>
        </p:spPr>
        <p:txBody>
          <a:bodyPr/>
          <a:lstStyle/>
          <a:p>
            <a:endParaRPr lang="en-ES"/>
          </a:p>
        </p:txBody>
      </p:sp>
      <p:sp>
        <p:nvSpPr>
          <p:cNvPr id="11" name="Shape 9"/>
          <p:cNvSpPr/>
          <p:nvPr/>
        </p:nvSpPr>
        <p:spPr>
          <a:xfrm>
            <a:off x="3291840" y="1417320"/>
            <a:ext cx="2651760" cy="64008"/>
          </a:xfrm>
          <a:prstGeom prst="rect">
            <a:avLst/>
          </a:prstGeom>
          <a:solidFill>
            <a:srgbClr val="3ABFBF"/>
          </a:solidFill>
          <a:ln w="12700">
            <a:solidFill>
              <a:srgbClr val="3ABFBF"/>
            </a:solidFill>
            <a:prstDash val="solid"/>
          </a:ln>
        </p:spPr>
        <p:txBody>
          <a:bodyPr/>
          <a:lstStyle/>
          <a:p>
            <a:endParaRPr lang="en-ES"/>
          </a:p>
        </p:txBody>
      </p:sp>
      <p:sp>
        <p:nvSpPr>
          <p:cNvPr id="12" name="Text 10"/>
          <p:cNvSpPr/>
          <p:nvPr/>
        </p:nvSpPr>
        <p:spPr>
          <a:xfrm>
            <a:off x="3291840" y="1554480"/>
            <a:ext cx="265176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3401568" y="2057400"/>
            <a:ext cx="2432304" cy="365760"/>
          </a:xfrm>
          <a:prstGeom prst="rect">
            <a:avLst/>
          </a:prstGeom>
          <a:noFill/>
          <a:ln/>
        </p:spPr>
        <p:txBody>
          <a:bodyPr wrap="square" lIns="0" tIns="0" rIns="0" bIns="0" rtlCol="0" anchor="ctr"/>
          <a:lstStyle/>
          <a:p>
            <a:pPr marL="0" indent="0">
              <a:buNone/>
            </a:pPr>
            <a:r>
              <a:rPr lang="en-US" sz="1400" b="1" dirty="0">
                <a:solidFill>
                  <a:srgbClr val="FFFFFF"/>
                </a:solidFill>
              </a:rPr>
              <a:t>Home Office Quality</a:t>
            </a:r>
            <a:endParaRPr lang="en-US" sz="1400" dirty="0"/>
          </a:p>
        </p:txBody>
      </p:sp>
      <p:sp>
        <p:nvSpPr>
          <p:cNvPr id="14" name="Text 12"/>
          <p:cNvSpPr/>
          <p:nvPr/>
        </p:nvSpPr>
        <p:spPr>
          <a:xfrm>
            <a:off x="3401568" y="2450592"/>
            <a:ext cx="2432304" cy="1005840"/>
          </a:xfrm>
          <a:prstGeom prst="rect">
            <a:avLst/>
          </a:prstGeom>
          <a:noFill/>
          <a:ln/>
        </p:spPr>
        <p:txBody>
          <a:bodyPr wrap="square" lIns="0" tIns="0" rIns="0" bIns="0" rtlCol="0" anchor="ctr"/>
          <a:lstStyle/>
          <a:p>
            <a:pPr marL="0" indent="0">
              <a:buNone/>
            </a:pPr>
            <a:r>
              <a:rPr lang="en-US" sz="1200" dirty="0">
                <a:solidFill>
                  <a:srgbClr val="8BBAC2"/>
                </a:solidFill>
              </a:rPr>
              <a:t>Better home office conditions are more clearly associated with higher productivity.</a:t>
            </a:r>
            <a:endParaRPr lang="en-US" sz="1200" dirty="0"/>
          </a:p>
        </p:txBody>
      </p:sp>
      <p:sp>
        <p:nvSpPr>
          <p:cNvPr id="15" name="Shape 13"/>
          <p:cNvSpPr/>
          <p:nvPr/>
        </p:nvSpPr>
        <p:spPr>
          <a:xfrm>
            <a:off x="6126480" y="1417320"/>
            <a:ext cx="2651760" cy="2194560"/>
          </a:xfrm>
          <a:prstGeom prst="rect">
            <a:avLst/>
          </a:prstGeom>
          <a:solidFill>
            <a:srgbClr val="0B2E3D"/>
          </a:solidFill>
          <a:ln w="12700">
            <a:solidFill>
              <a:srgbClr val="1A4A5C"/>
            </a:solidFill>
            <a:prstDash val="solid"/>
          </a:ln>
          <a:effectLst>
            <a:outerShdw blurRad="101600" dist="38100" dir="8100000" algn="bl" rotWithShape="0">
              <a:srgbClr val="000000">
                <a:alpha val="12000"/>
              </a:srgbClr>
            </a:outerShdw>
          </a:effectLst>
        </p:spPr>
        <p:txBody>
          <a:bodyPr/>
          <a:lstStyle/>
          <a:p>
            <a:endParaRPr lang="en-ES"/>
          </a:p>
        </p:txBody>
      </p:sp>
      <p:sp>
        <p:nvSpPr>
          <p:cNvPr id="16" name="Shape 14"/>
          <p:cNvSpPr/>
          <p:nvPr/>
        </p:nvSpPr>
        <p:spPr>
          <a:xfrm>
            <a:off x="6126480" y="1417320"/>
            <a:ext cx="2651760" cy="64008"/>
          </a:xfrm>
          <a:prstGeom prst="rect">
            <a:avLst/>
          </a:prstGeom>
          <a:solidFill>
            <a:srgbClr val="3ABFBF"/>
          </a:solidFill>
          <a:ln w="12700">
            <a:solidFill>
              <a:srgbClr val="3ABFBF"/>
            </a:solidFill>
            <a:prstDash val="solid"/>
          </a:ln>
        </p:spPr>
        <p:txBody>
          <a:bodyPr/>
          <a:lstStyle/>
          <a:p>
            <a:endParaRPr lang="en-ES"/>
          </a:p>
        </p:txBody>
      </p:sp>
      <p:sp>
        <p:nvSpPr>
          <p:cNvPr id="17" name="Text 15"/>
          <p:cNvSpPr/>
          <p:nvPr/>
        </p:nvSpPr>
        <p:spPr>
          <a:xfrm>
            <a:off x="6126480" y="1554480"/>
            <a:ext cx="265176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6236208" y="2057400"/>
            <a:ext cx="2432304" cy="365760"/>
          </a:xfrm>
          <a:prstGeom prst="rect">
            <a:avLst/>
          </a:prstGeom>
          <a:noFill/>
          <a:ln/>
        </p:spPr>
        <p:txBody>
          <a:bodyPr wrap="square" lIns="0" tIns="0" rIns="0" bIns="0" rtlCol="0" anchor="ctr"/>
          <a:lstStyle/>
          <a:p>
            <a:pPr marL="0" indent="0">
              <a:buNone/>
            </a:pPr>
            <a:r>
              <a:rPr lang="en-US" sz="1400" b="1" dirty="0">
                <a:solidFill>
                  <a:srgbClr val="FFFFFF"/>
                </a:solidFill>
              </a:rPr>
              <a:t>Other Factors</a:t>
            </a:r>
            <a:endParaRPr lang="en-US" sz="1400" dirty="0"/>
          </a:p>
        </p:txBody>
      </p:sp>
      <p:sp>
        <p:nvSpPr>
          <p:cNvPr id="19" name="Text 17"/>
          <p:cNvSpPr/>
          <p:nvPr/>
        </p:nvSpPr>
        <p:spPr>
          <a:xfrm>
            <a:off x="6236208" y="2450592"/>
            <a:ext cx="2432304" cy="1005840"/>
          </a:xfrm>
          <a:prstGeom prst="rect">
            <a:avLst/>
          </a:prstGeom>
          <a:noFill/>
          <a:ln/>
        </p:spPr>
        <p:txBody>
          <a:bodyPr wrap="square" lIns="0" tIns="0" rIns="0" bIns="0" rtlCol="0" anchor="ctr"/>
          <a:lstStyle/>
          <a:p>
            <a:pPr marL="0" indent="0">
              <a:buNone/>
            </a:pPr>
            <a:r>
              <a:rPr lang="en-US" sz="1200" dirty="0">
                <a:solidFill>
                  <a:srgbClr val="8BBAC2"/>
                </a:solidFill>
              </a:rPr>
              <a:t>Job satisfaction and years of experience also contribute meaningfully to productivity.</a:t>
            </a:r>
            <a:endParaRPr lang="en-US" sz="1200" dirty="0"/>
          </a:p>
        </p:txBody>
      </p:sp>
      <p:sp>
        <p:nvSpPr>
          <p:cNvPr id="20" name="Shape 18"/>
          <p:cNvSpPr/>
          <p:nvPr/>
        </p:nvSpPr>
        <p:spPr>
          <a:xfrm>
            <a:off x="457200" y="3840480"/>
            <a:ext cx="8229600" cy="1005840"/>
          </a:xfrm>
          <a:prstGeom prst="rect">
            <a:avLst/>
          </a:prstGeom>
          <a:solidFill>
            <a:srgbClr val="3ABFBF"/>
          </a:solidFill>
          <a:ln w="12700">
            <a:solidFill>
              <a:srgbClr val="3ABFBF"/>
            </a:solidFill>
            <a:prstDash val="solid"/>
          </a:ln>
          <a:effectLst>
            <a:outerShdw blurRad="101600" dist="38100" dir="8100000" algn="bl" rotWithShape="0">
              <a:srgbClr val="000000">
                <a:alpha val="12000"/>
              </a:srgbClr>
            </a:outerShdw>
          </a:effectLst>
        </p:spPr>
        <p:txBody>
          <a:bodyPr/>
          <a:lstStyle/>
          <a:p>
            <a:endParaRPr lang="en-ES"/>
          </a:p>
        </p:txBody>
      </p:sp>
      <p:sp>
        <p:nvSpPr>
          <p:cNvPr id="21" name="Text 19"/>
          <p:cNvSpPr/>
          <p:nvPr/>
        </p:nvSpPr>
        <p:spPr>
          <a:xfrm>
            <a:off x="640080" y="3886200"/>
            <a:ext cx="7863840" cy="274320"/>
          </a:xfrm>
          <a:prstGeom prst="rect">
            <a:avLst/>
          </a:prstGeom>
          <a:noFill/>
          <a:ln/>
        </p:spPr>
        <p:txBody>
          <a:bodyPr wrap="square" lIns="0" tIns="0" rIns="0" bIns="0" rtlCol="0" anchor="ctr"/>
          <a:lstStyle/>
          <a:p>
            <a:pPr marL="0" indent="0">
              <a:buNone/>
            </a:pPr>
            <a:r>
              <a:rPr lang="en-US" sz="1000" b="1" kern="0" spc="200" dirty="0">
                <a:solidFill>
                  <a:srgbClr val="0D3B4E"/>
                </a:solidFill>
              </a:rPr>
              <a:t>Key Takeaway</a:t>
            </a:r>
            <a:endParaRPr lang="en-US" sz="1000" dirty="0"/>
          </a:p>
        </p:txBody>
      </p:sp>
      <p:sp>
        <p:nvSpPr>
          <p:cNvPr id="22" name="Text 20"/>
          <p:cNvSpPr/>
          <p:nvPr/>
        </p:nvSpPr>
        <p:spPr>
          <a:xfrm>
            <a:off x="640080" y="4160520"/>
            <a:ext cx="7863840" cy="594360"/>
          </a:xfrm>
          <a:prstGeom prst="rect">
            <a:avLst/>
          </a:prstGeom>
          <a:noFill/>
          <a:ln/>
        </p:spPr>
        <p:txBody>
          <a:bodyPr wrap="square" lIns="0" tIns="0" rIns="0" bIns="0" rtlCol="0" anchor="ctr"/>
          <a:lstStyle/>
          <a:p>
            <a:pPr marL="0" indent="0">
              <a:buNone/>
            </a:pPr>
            <a:r>
              <a:rPr lang="en-US" sz="1400" b="1" dirty="0">
                <a:solidFill>
                  <a:srgbClr val="0D3B4E"/>
                </a:solidFill>
              </a:rPr>
              <a:t>Remote work is not only about frequency — it's about the context and quality of the work environment.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612</Words>
  <Application>Microsoft Macintosh PowerPoint</Application>
  <PresentationFormat>On-screen Show (16:9)</PresentationFormat>
  <Paragraphs>86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Work and Productivity</dc:title>
  <dc:subject>PptxGenJS Presentation</dc:subject>
  <dc:creator>PptxGenJS</dc:creator>
  <cp:lastModifiedBy>Nuria Garcia Ruiz de Alarcon (Sting Account)</cp:lastModifiedBy>
  <cp:revision>2</cp:revision>
  <dcterms:created xsi:type="dcterms:W3CDTF">2026-04-12T04:43:12Z</dcterms:created>
  <dcterms:modified xsi:type="dcterms:W3CDTF">2026-04-12T05:14:33Z</dcterms:modified>
</cp:coreProperties>
</file>